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FFFFFF"/>
                </a:solidFill>
                <a:latin typeface="Calibri"/>
              </a:rPr>
              <a:t>TatRaksha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CFE8EC"/>
                </a:solidFill>
                <a:latin typeface="Calibri"/>
              </a:rPr>
              <a:t>Cyclone anticipatory action &amp; early warning: from an IMD bulletin to village-level action, 72 hours before landfall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Gemini 3.7 Flash · Earth Engine · Google Maps · Speech &amp; Translation · BigQuery · Cloud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FE8EC"/>
                </a:solidFill>
                <a:latin typeface="Calibri"/>
              </a:rPr>
              <a:t>Build with AI hackathon · Track 5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8EC"/>
                </a:solidFill>
                <a:latin typeface="Calibri"/>
              </a:rPr>
              <a:t>Demo: Odisha / Cyclone Fani 2019 and West Bengal / Cyclone Amphan 2020 replays (sample data, labelled)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72 hours, one officer, hundreds of villages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Problem fit · 20 %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E7C86"/>
                </a:solidFill>
                <a:latin typeface="Calibri"/>
              </a:rPr>
              <a:t>“Who do I evacuate, what do I protect, and what do I tell people, in their language, before the roads flood?”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6616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356616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Forecasts are regional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IMD bulletins give track, wind and surge guidance for a coastline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Officers must translate them into villages, shelters and substations by hand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356616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94560"/>
            <a:ext cx="73152" cy="356616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Hazards compound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Surge, rain-flooding and wind hit different villages at different times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Shelters look fine on paper but are cut off when access roads flood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56616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73152" cy="356616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Warnings are 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346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Advisories are drafted manually per area and language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No standard format, no audit trail, money for relief arrives after the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B6778"/>
                </a:solidFill>
                <a:latin typeface="Calibri"/>
              </a:rPr>
              <a:t>India's east coast faces 4–5 cyclones a year; the Bay of Bengal has produced most of the deadliest cyclones on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One journey: bulletin →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Problem fit · 20 %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62851" cy="10058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Gemini parses bulletin; officer verifies track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5499" y="183794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1531" y="1463040"/>
            <a:ext cx="1962851" cy="100584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Surge + rain-flood + wind swath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8390" y="183794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463040"/>
            <a:ext cx="1962851" cy="100584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Village Risk + shelter cut-off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41281" y="183794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97313" y="1463040"/>
            <a:ext cx="1962851" cy="10058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Gemini multimodal situation report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4172" y="183794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0204" y="1463040"/>
            <a:ext cx="1962851" cy="100584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Advisory → approval → CAP 1.2 → dispatch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548640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73152" cy="3291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District Disaster Management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Replay slider T-72 → T-6 h; every bulletin re-runs the pipeline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Ranked villages with a transparent 30/25/15/15/15 breakdown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Shelters cut off by flooded roads + Google Routes drive time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Situation report with actions per role and deadlines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Odia / Bengali / English advisories with voice, approved before 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544068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73152" cy="3291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State EOC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74720"/>
            <a:ext cx="5074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Districts and blocks side by side (Odisha, West Bengal)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Parametric trigger probability and payout range (sample policies)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Predicted vs observed flooding for the replay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Advisory, dispatch and audit logs (BigQuery)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Who is at risk, and can they reach a shelter?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pic>
        <p:nvPicPr>
          <p:cNvPr id="6" name="Picture 5" descr="district-vill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119872" cy="50749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823960" y="128016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•  59,600 people</a:t>
            </a:r>
            <a:r>
              <a:rPr sz="1500">
                <a:solidFill>
                  <a:srgbClr val="1F2937"/>
                </a:solidFill>
                <a:latin typeface="Calibri"/>
              </a:rPr>
              <a:t> in High-risk villages at T-24 h (Fani replay)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•  2 shelters cut off</a:t>
            </a:r>
            <a:r>
              <a:rPr sz="1500">
                <a:solidFill>
                  <a:srgbClr val="1F2937"/>
                </a:solidFill>
                <a:latin typeface="Calibri"/>
              </a:rPr>
              <a:t> by the flood-aware road model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•  Google Routes</a:t>
            </a:r>
            <a:r>
              <a:rPr sz="1500">
                <a:solidFill>
                  <a:srgbClr val="1F2937"/>
                </a:solidFill>
                <a:latin typeface="Calibri"/>
              </a:rPr>
              <a:t> 3.6 km · ~11 min to the assigned shelter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•  Every layer labelled</a:t>
            </a:r>
            <a:r>
              <a:rPr sz="1500">
                <a:solidFill>
                  <a:srgbClr val="1F2937"/>
                </a:solidFill>
                <a:latin typeface="Calibri"/>
              </a:rPr>
              <a:t> screening estimate, sample data, source +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Gemini reads and reasons; it never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AI &amp; technical · 25 %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2377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1 · Bulletin →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Text/PDF bulletin to schema-validated JSON track; cross-checked by a deterministic parser; officer verifies.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73152" cy="2377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2 · Multimodal sitrep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Hazard-map image + bulletin + exposure tables in one call → headline, key numbers, actions by role with deadlines, uncertainties.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52044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73152" cy="2377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3 · Advisory drafting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1546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English drafts with six mandatory fields; rejected if a field is missing. Odia/Bengali from approved templates.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1110996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73152" cy="2377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7764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Trust by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10744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Observed data → model estimate → AI interpretation → recommendation, kept separate in the data and UI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Every number in the report is checked against the pipeline output; ungrounded items are removed and listed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Each AI record stores model_name, model_version, prompt_version (versioned prompts in ai/prompts/)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Rate limits or failures fall back to a labelled deterministic path; the live/demo badge is verified by real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Google AI &amp; Cloud stack, live in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AI &amp; technical · 25 %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pic>
        <p:nvPicPr>
          <p:cNvPr id="7" name="Picture 6" descr="district-sitr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0292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732520" y="1234440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Gemini 3.7 Flash (Vertex AI)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parse · sitrep · drafts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56232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Maps JS · Routes · Geocoding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basemap · shelter drive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78024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Text-to-Speech · Speech-to-Text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voice advisory + read-back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099816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Cloud Translation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back-translation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721608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BigQuery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audit + dispatch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43400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Cloud Storage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map renders · CAP ·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965192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Cloud Run · Secret Manager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API + 2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5586984"/>
            <a:ext cx="3291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Calibri"/>
              </a:rPr>
              <a:t>Earth Engine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8"/>
                </a:solidFill>
                <a:latin typeface="Calibri"/>
              </a:rPr>
              <a:t>DEM, water, rain, WorldPop (ready)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Transparent hazard models an officer can explain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AI &amp; technical · 25 %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2286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Storm surge (screening)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Inverse barometer + wind set-up × shelf factor, right-of-track peak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Bathtub fill connected to the sea; expected vs high case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Labelled: defer to official IMD / INCOIS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4068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73152" cy="2286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Rain-flood + 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Rain-flood likelihood from 72 h rain, low-lying terrain, drainage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Modified Rankine wind swath, gale arrival time per village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Validated against observed flooding in each replay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1110996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73152" cy="246888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199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Village Risk score (0–100)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89119"/>
            <a:ext cx="10744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Surge 30 · Rainfall flood 25 · Wind 15 · Population 15 · Vulnerability 15, weights set per state in its adapter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Road-network cut-off: a shelter counts only if it is dry and reachable on roads that stay open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Earth Engine path (Copernicus DEM, JRC water, GPM IMERG, WorldPop, Open Buildings) swaps in real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Warnings people understand, released by a human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Impact · 15 %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962851" cy="100584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Draft per village, audience, stage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5499" y="17465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1531" y="1371600"/>
            <a:ext cx="1962851" cy="100584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Back-translation + review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8390" y="17465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371600"/>
            <a:ext cx="1962851" cy="100584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Officer approval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41281" y="17465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97313" y="1371600"/>
            <a:ext cx="1962851" cy="10058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 1.2 (validated)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4172" y="17465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0204" y="1371600"/>
            <a:ext cx="1962851" cy="10058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SMS · voice · feed (sandbox)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73152" cy="33832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80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Languages and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English, Odia, Bengali; mandatory fields preserved (what, where, when, action, shelter, authority)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Cloud Text-to-Speech voice advisory; Speech-to-Text reads it back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Adding Telugu or Tamil is a template + config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544068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73152" cy="3383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Standards and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80"/>
            <a:ext cx="5074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CAP 1.2: the format of India's national alert gateway (NDMA)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Consequential actions need human approval; two roles only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Every draft, approval and dispatch in an append-only audit log (BigQuery)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Built for every coastal state, not one district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Depth &amp; reach · 20 %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pic>
        <p:nvPicPr>
          <p:cNvPr id="7" name="Picture 6" descr="state-e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49240" cy="334327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Canonical disaster-risk schema</a:t>
            </a:r>
            <a:r>
              <a:rPr sz="1700">
                <a:solidFill>
                  <a:srgbClr val="1F2937"/>
                </a:solidFill>
                <a:latin typeface="Calibri"/>
              </a:rPr>
              <a:t> (villages, shelters, assets, roads, hazards, advisories)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State adapters in JSON</a:t>
            </a:r>
            <a:r>
              <a:rPr sz="1700">
                <a:solidFill>
                  <a:srgbClr val="1F2937"/>
                </a:solidFill>
                <a:latin typeface="Calibri"/>
              </a:rPr>
              <a:t> districts, languages, authority, CAP sender, risk weights, field mapping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Two states live</a:t>
            </a:r>
            <a:r>
              <a:rPr sz="1700">
                <a:solidFill>
                  <a:srgbClr val="1F2937"/>
                </a:solidFill>
                <a:latin typeface="Calibri"/>
              </a:rPr>
              <a:t> Odisha (Fani 2019), West Bengal (Amphan 2020) on the same services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Global layers</a:t>
            </a:r>
            <a:r>
              <a:rPr sz="1700">
                <a:solidFill>
                  <a:srgbClr val="1F2937"/>
                </a:solidFill>
                <a:latin typeface="Calibri"/>
              </a:rPr>
              <a:t> Earth Engine datasets cover every Indian coast out of the box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Onboarding a state</a:t>
            </a:r>
            <a:r>
              <a:rPr sz="1700">
                <a:solidFill>
                  <a:srgbClr val="1F2937"/>
                </a:solidFill>
                <a:latin typeface="Calibri"/>
              </a:rPr>
              <a:t> adapter + data files + approved templates, no code fork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Cloud-native, API-first, pilot-ready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Deployability · 20 %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582369" cy="8686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One village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5017" y="16322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51049" y="1325880"/>
            <a:ext cx="1582369" cy="8686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One district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97426" y="16322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3458" y="1325880"/>
            <a:ext cx="1582369" cy="8686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One state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9835" y="16322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5867" y="1325880"/>
            <a:ext cx="1582369" cy="8686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All coastal states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2244" y="16322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8276" y="1325880"/>
            <a:ext cx="1582369" cy="8686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Bay of Bengal region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04653" y="1632204"/>
            <a:ext cx="192024" cy="256032"/>
          </a:xfrm>
          <a:prstGeom prst="rightArrow">
            <a:avLst/>
          </a:prstGeom>
          <a:solidFill>
            <a:srgbClr val="5B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60685" y="1325880"/>
            <a:ext cx="1582369" cy="86868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Regional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5486400" cy="3657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14600"/>
            <a:ext cx="73152" cy="3657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517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Deployable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546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Cloud Run (asia-south1): FastAPI + two Next.js apps, one repeatable deploy script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Secrets in Secret Manager; service-account auth; public repo, no keys in git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Every integration degrades to a labelled demo mode, so it runs anywhere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REST API (PRD §37) + CAP feed for state alert gateways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440680" cy="3657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514600"/>
            <a:ext cx="73152" cy="365760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517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Pilot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54680"/>
            <a:ext cx="5074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Shadow mode next cyclone season alongside the OSDMA / WBDMD process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Compare Village Risk and cut-offs with observed flooding (built-in validation)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Firestore + Earth Engine switch on by configuration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Vertex AI flood model trained on Sentinel-1 flood extents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Earlier, targeted evacuation and faster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411480"/>
            <a:ext cx="21945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7C86"/>
                </a:solidFill>
                <a:latin typeface="Calibri"/>
              </a:rPr>
              <a:t>Impact · 15 %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5760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2743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Evacuation orders reach the highest-risk villages first, with a reachable shelter named in the advisory and in the local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5760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73152" cy="2743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Exposed substations, hospitals and roads flagged 24–72 h ahead so utilities can harden and pre-position crews.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5204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73152" cy="2743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Liquidity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1546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Calibri"/>
              </a:rPr>
              <a:t>Parametric trigger estimates let insurers and the state prepare payouts before landfall.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110996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73152" cy="2011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Cross-border and BRICS portability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0744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Bangladesh and Myanmar share the Bay of Bengal cyclones: Bangla and Burmese are configuration, CAP is international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State adapter → country adapter: the same canonical model serves any national met service and alert gateway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778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B2545"/>
                </a:solidFill>
                <a:latin typeface="Calibri"/>
              </a:rPr>
              <a:t>Where we are,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8"/>
                </a:solidFill>
                <a:latin typeface="Calibri"/>
              </a:rPr>
              <a:t>TatRaksha · Build with AI 2026 · Track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4846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Working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Full journey: bulletin → hazards → village risk → Gemini sitrep → approved CAP advisory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Live: Gemini 3.7 Flash, Maps Routes/Geocoding, Translation, TTS, STT, BigQuery, Cloud Storage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Two states, three languages, State EOC with parametric and validation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40 API tests incl. an end-to-end journey; deployable Docker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4068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84632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545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Earth Engine registration → real DEM, rainfall and population layers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Vertex AI flood model; live IMD forecast ingest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Native-speaker review of Odia/Bengali templates; Odia voice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Andhra Pradesh rain-flood scenario; SMS/voice sandbox providers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Shadow-mode pilot with one coastal district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