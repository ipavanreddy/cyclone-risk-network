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TatRaksha, meaning coast protector, turns an official IMD cyclone bulletin into village-level action up to 72 hours before landfall. The image is a real screenshot of our district dashboard replaying Cyclone Fani over Puri at T-24 hours. Gemini 3.7 Flash reads the bulletin and the hazard map, transparent models rank every village, and the district officer approves every warning. Everything you see is running code; replay data is sample data and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 issues excellent regional bulletins: track, intensity and surge guidance for a coastline. But the district officer has to answer local questions: which villages flood, which roads get cut, which shelters become unreachable, and what to tell people in Odia. Today that means compiling lists and making phone calls, again for every new bulletin. In our Fani replay at T-24 hours, 59,600 people are in high-risk villages and five villages have no shelter reachable by road. Those numbers come from our sample replay data, not official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TatRaksha is one pipeline. First, an impact forecast: screening surge, rainfall flood likelihood and wind give every village a transparent Village Risk score. Second, Gemini 3.7 Flash writes a situation report from the hazard map image, the bulletin and the exposure tables, and every number is checked against the data. Third, an advisory with six mandatory fields, which the officer must approve before it becomes a CAP 1.2 message. On the right is the real draft the app produced for Satapada, a village the road model found has no reachable shelter.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loop. Gemini parses the bulletin, and a deterministic parser cross-checks it before the officer verifies the track. The hazard models, the exposure and road cut-off analysis and the situation report all re-run automatically whenever a new bulletin arrives. The officer stays in charge of every consequential step, and the State EOC sees all districts plus parametric trigger estimates. Nothing reaches the public without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user is the District Disaster Management Officer: accountable, time-pressed and coordinating many departments. The State EOC Officer is the second role, with a read-focused view across districts. The Collector's name goes on every advisory, line departments receive actions with deadlines, and the public receives warnings without ever logging in. The screenshot shows what the officer gets from Gemini: actions by role, each with a deadline and the data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demo. At T-72 hours Gemini parses the bulletin and three villages with 14,100 people are already high risk. At T-24 hours the hazards re-run: expected surge 1.66 metres, high case 1.89, and the network model finds two roads cut. Satapada scores 61 and has no shelter reachable by road, so its advisory tells people to go to a strong building on high ground and call 1070. Gemini's report sets the deadline and flags that one shelter is assigned far more people than it can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building another forecast or another alert gateway. IMD provides the authoritative forecast, INCOIS the ocean-state and surge products, and NDMA's CAP-based SACHET system delivers the alert. What sits between them today is manual work: which villages, which roads, which shelters, which words. TatRaksha fills that gap, and because it outputs CAP 1.2 it plugs into the existing alert infrastructure. Our honest boundary: the hazard models are screening level and need field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layered. Hazards and exposure are transparent formulas an officer can explain, so Gemini is never asked to invent a measurement. Gemini 3.7 Flash does three bounded jobs: parse the bulletin, reason over the hazard map image and tables for the situation report, and draft English advisories, all as schema-validated JSON with model and prompt versions stored. Maps, Translation, Text-to-Speech, Speech-to-Text, BigQuery and Cloud Storage are live; Earth Engine is wired in, and the Vertex AI flood model is next. A startup probe makes one real call per integration so the badge shows what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life-safety work, the AI must be checkable and overridable. Every number in the situation report is checked against the pipeline output, and anything ungrounded is removed and shown. Life-safety wording in Odia and Bengali comes from pre-approved templates, with machine back-translation only to help the reviewer. We never invent measurements, never store citizens' phone numbers, and send nothing real from the prototype. Every approval and dispatch lands in an append-only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earn trust before anyone relies on this. Phase one is a tabletop exercise replaying Fani and Amphan with district staff. Phase two runs TatRaksha in shadow mode alongside the official process during the October to December peak, with no public alerts. On our sample replay the validation shows every observed flooded village was flagged, at a false-alarm ratio of 0.5, which is deliberately cautious but not a field result. The natural owner is the state disaster management authority, funded through the Finance Commission disaster funds, which we still need to confirm with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prototype. On the left, the district dashboard with the Fani replay map and a live Gemini situation report; on the right, the State EOC comparing blocks and districts. Both run on Cloud Run in Mumbai with the API, and every integration falls back to a labelled demo mode. Against the evaluation criteria: meaningful Gemini use, every clause of the brief built, two states and three languages on one schema, and a one-command deploy. Try it at the links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behind the claims on the core slides. IMD's regional centre provides the bulletins we consume and the public facts used to reconstruct our sample replays. INCOIS provides official surge and wave services, and NDMA's SACHET system is the CAP-based alert channel we plug into. CAP 1.2 is the open OASIS standard our advisories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Cyclone Risk Mitigation Project built much of the shelter and warning infrastructure we model. The Earth Engine catalogue lists the open datasets our geospatial path uses. Reference seven is our own sample replay data, clearly flagged in the data and the UI. Reference eight is the Ministry of Home Affairs guidance on state disaster response and mitigation funds, our candidate budget route to confirm with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hyperlink" Target="https://cyclone-risk-network-district-dashboard-847963771142.asia-south1.run.app" TargetMode="External"/><Relationship Id="rId5" Type="http://schemas.openxmlformats.org/officeDocument/2006/relationships/hyperlink" Target="https://cyclone-risk-network-state-eoc-dashboard-847963771142.asia-south1.run.app" TargetMode="External"/><Relationship Id="rId6" Type="http://schemas.openxmlformats.org/officeDocument/2006/relationships/hyperlink" Target="https://cyclone-risk-network-api-847963771142.asia-south1.run.app/docs" TargetMode="External"/><Relationship Id="rId7" Type="http://schemas.openxmlformats.org/officeDocument/2006/relationships/hyperlink" Target="https://github.com/ipavanreddy/cyclone-risk-network" TargetMode="External"/><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rsmcnewdelhi.imd.gov.in" TargetMode="External"/><Relationship Id="rId3" Type="http://schemas.openxmlformats.org/officeDocument/2006/relationships/hyperlink" Target="https://incois.gov.in" TargetMode="External"/><Relationship Id="rId4" Type="http://schemas.openxmlformats.org/officeDocument/2006/relationships/hyperlink" Target="https://sachet.ndma.gov.in" TargetMode="External"/><Relationship Id="rId5" Type="http://schemas.openxmlformats.org/officeDocument/2006/relationships/hyperlink" Target="https://docs.oasis-open.org/emergency/cap/v1.2/CAP-v1.2.html" TargetMode="External"/><Relationship Id="rId1" Type="http://schemas.openxmlformats.org/officeDocument/2006/relationships/image" Target="../media/image-12-1.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mitigation.ndma.gov.in/ncrmp/" TargetMode="External"/><Relationship Id="rId3" Type="http://schemas.openxmlformats.org/officeDocument/2006/relationships/hyperlink" Target="https://developers.google.com/earth-engine/datasets" TargetMode="External"/><Relationship Id="rId4" Type="http://schemas.openxmlformats.org/officeDocument/2006/relationships/hyperlink" Target="https://ndmindia.mha.gov.in" TargetMode="External"/><Relationship Id="rId1" Type="http://schemas.openxmlformats.org/officeDocument/2006/relationships/image" Target="../media/image-13-1.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149"/>
        </a:solidFill>
      </p:bgPr>
    </p:bg>
    <p:spTree>
      <p:nvGrpSpPr>
        <p:cNvPr id="1" name=""/>
        <p:cNvGrpSpPr/>
        <p:nvPr/>
      </p:nvGrpSpPr>
      <p:grpSpPr>
        <a:xfrm>
          <a:off x="0" y="0"/>
          <a:ext cx="0" cy="0"/>
          <a:chOff x="0" y="0"/>
          <a:chExt cx="0" cy="0"/>
        </a:xfrm>
      </p:grpSpPr>
      <p:pic>
        <p:nvPicPr>
          <p:cNvPr id="2" name="Image 0" descr="/Users/pavan/Documents/Code/Build_with_AI/cyclone-risk-network/docs/pitch/assets/cover-puri-hazard-map.jpg">    </p:cNvPr>
          <p:cNvPicPr>
            <a:picLocks noChangeAspect="1"/>
          </p:cNvPicPr>
          <p:nvPr/>
        </p:nvPicPr>
        <p:blipFill>
          <a:blip r:embed="rId1"/>
          <a:srcRect l="0" r="0" t="0" b="0"/>
          <a:stretch/>
        </p:blipFill>
        <p:spPr>
          <a:xfrm>
            <a:off x="5669280" y="0"/>
            <a:ext cx="6522415" cy="6858000"/>
          </a:xfrm>
          <a:prstGeom prst="rect">
            <a:avLst/>
          </a:prstGeom>
        </p:spPr>
      </p:pic>
      <p:sp>
        <p:nvSpPr>
          <p:cNvPr id="3" name="Shape 0"/>
          <p:cNvSpPr/>
          <p:nvPr/>
        </p:nvSpPr>
        <p:spPr>
          <a:xfrm>
            <a:off x="649224" y="429768"/>
            <a:ext cx="768096" cy="713232"/>
          </a:xfrm>
          <a:prstGeom prst="roundRect">
            <a:avLst>
              <a:gd name="adj" fmla="val 10256"/>
            </a:avLst>
          </a:prstGeom>
          <a:solidFill>
            <a:srgbClr val="2E7D3A"/>
          </a:solidFill>
          <a:ln/>
        </p:spPr>
      </p:sp>
      <p:pic>
        <p:nvPicPr>
          <p:cNvPr id="4" name="Image 1" descr="/Users/pavan/Documents/Code/Build_with_AI/cyclone-risk-network/docs/pitch/assets/spontom-mark.png">    </p:cNvPr>
          <p:cNvPicPr>
            <a:picLocks noChangeAspect="1"/>
          </p:cNvPicPr>
          <p:nvPr/>
        </p:nvPicPr>
        <p:blipFill>
          <a:blip r:embed="rId2"/>
          <a:stretch>
            <a:fillRect/>
          </a:stretch>
        </p:blipFill>
        <p:spPr>
          <a:xfrm>
            <a:off x="758952" y="530352"/>
            <a:ext cx="548640" cy="512064"/>
          </a:xfrm>
          <a:prstGeom prst="rect">
            <a:avLst/>
          </a:prstGeom>
        </p:spPr>
      </p:pic>
      <p:sp>
        <p:nvSpPr>
          <p:cNvPr id="5" name="Text 1"/>
          <p:cNvSpPr txBox="1"/>
          <p:nvPr/>
        </p:nvSpPr>
        <p:spPr>
          <a:xfrm>
            <a:off x="1600200" y="576072"/>
            <a:ext cx="3931920" cy="182880"/>
          </a:xfrm>
          <a:prstGeom prst="rect">
            <a:avLst/>
          </a:prstGeom>
          <a:noFill/>
          <a:ln/>
        </p:spPr>
        <p:txBody>
          <a:bodyPr wrap="square" lIns="0" tIns="0" rIns="0" bIns="0" rtlCol="0" anchor="t"/>
          <a:lstStyle/>
          <a:p>
            <a:pPr indent="0" marL="0">
              <a:buNone/>
            </a:pPr>
            <a:r>
              <a:rPr lang="en-US" sz="900" b="1" spc="150" kern="0" dirty="0">
                <a:solidFill>
                  <a:srgbClr val="FFFFFF"/>
                </a:solidFill>
                <a:latin typeface="Arial" pitchFamily="34" charset="0"/>
                <a:ea typeface="Arial" pitchFamily="34" charset="-122"/>
                <a:cs typeface="Arial" pitchFamily="34" charset="-120"/>
              </a:rPr>
              <a:t>SPONTOM ENTERPRISE PRIVATE LIMITED</a:t>
            </a:r>
            <a:endParaRPr lang="en-US" sz="900" dirty="0"/>
          </a:p>
        </p:txBody>
      </p:sp>
      <p:sp>
        <p:nvSpPr>
          <p:cNvPr id="6" name="Text 2"/>
          <p:cNvSpPr txBox="1"/>
          <p:nvPr/>
        </p:nvSpPr>
        <p:spPr>
          <a:xfrm>
            <a:off x="1600200" y="822960"/>
            <a:ext cx="3931920" cy="146304"/>
          </a:xfrm>
          <a:prstGeom prst="rect">
            <a:avLst/>
          </a:prstGeom>
          <a:noFill/>
          <a:ln/>
        </p:spPr>
        <p:txBody>
          <a:bodyPr wrap="square" lIns="0" tIns="0" rIns="0" bIns="0" rtlCol="0" anchor="t"/>
          <a:lstStyle/>
          <a:p>
            <a:pPr indent="0" marL="0">
              <a:buNone/>
            </a:pPr>
            <a:r>
              <a:rPr lang="en-US" sz="700" dirty="0">
                <a:solidFill>
                  <a:srgbClr val="B9C4CF"/>
                </a:solidFill>
                <a:latin typeface="Arial" pitchFamily="34" charset="0"/>
                <a:ea typeface="Arial" pitchFamily="34" charset="-122"/>
                <a:cs typeface="Arial" pitchFamily="34" charset="-120"/>
              </a:rPr>
              <a:t>Build with AI (Google)  •  Track 5</a:t>
            </a:r>
            <a:endParaRPr lang="en-US" sz="700" dirty="0"/>
          </a:p>
        </p:txBody>
      </p:sp>
      <p:sp>
        <p:nvSpPr>
          <p:cNvPr id="7" name="Text 3"/>
          <p:cNvSpPr txBox="1"/>
          <p:nvPr/>
        </p:nvSpPr>
        <p:spPr>
          <a:xfrm>
            <a:off x="649224" y="1417320"/>
            <a:ext cx="4846320" cy="160020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TatRaksha</a:t>
            </a:r>
            <a:endParaRPr lang="en-US" sz="4000" dirty="0"/>
          </a:p>
        </p:txBody>
      </p:sp>
      <p:sp>
        <p:nvSpPr>
          <p:cNvPr id="8" name="Text 4"/>
          <p:cNvSpPr txBox="1"/>
          <p:nvPr/>
        </p:nvSpPr>
        <p:spPr>
          <a:xfrm>
            <a:off x="649224" y="3063240"/>
            <a:ext cx="4754880" cy="868680"/>
          </a:xfrm>
          <a:prstGeom prst="rect">
            <a:avLst/>
          </a:prstGeom>
          <a:noFill/>
          <a:ln/>
        </p:spPr>
        <p:txBody>
          <a:bodyPr wrap="square" lIns="0" tIns="0" rIns="0" bIns="0" rtlCol="0" anchor="t">
            <a:normAutofit/>
          </a:bodyPr>
          <a:lstStyle/>
          <a:p>
            <a:pPr indent="0" marL="0">
              <a:buNone/>
            </a:pPr>
            <a:r>
              <a:rPr lang="en-US" sz="2000" b="1" dirty="0">
                <a:solidFill>
                  <a:srgbClr val="F3CB7A"/>
                </a:solidFill>
                <a:latin typeface="Arial" pitchFamily="34" charset="0"/>
                <a:ea typeface="Arial" pitchFamily="34" charset="-122"/>
                <a:cs typeface="Arial" pitchFamily="34" charset="-120"/>
              </a:rPr>
              <a:t>From a cyclone bulletin</a:t>
            </a:r>
            <a:endParaRPr lang="en-US" sz="2000" dirty="0"/>
          </a:p>
          <a:p>
            <a:pPr indent="0" marL="0">
              <a:buNone/>
            </a:pPr>
            <a:r>
              <a:rPr lang="en-US" sz="2000" b="1" dirty="0">
                <a:solidFill>
                  <a:srgbClr val="F3CB7A"/>
                </a:solidFill>
                <a:latin typeface="Arial" pitchFamily="34" charset="0"/>
                <a:ea typeface="Arial" pitchFamily="34" charset="-122"/>
                <a:cs typeface="Arial" pitchFamily="34" charset="-120"/>
              </a:rPr>
              <a:t>to village-level action.</a:t>
            </a:r>
            <a:endParaRPr lang="en-US" sz="2000" dirty="0"/>
          </a:p>
        </p:txBody>
      </p:sp>
      <p:sp>
        <p:nvSpPr>
          <p:cNvPr id="9" name="Text 5"/>
          <p:cNvSpPr txBox="1"/>
          <p:nvPr/>
        </p:nvSpPr>
        <p:spPr>
          <a:xfrm>
            <a:off x="649224" y="4069080"/>
            <a:ext cx="4754880" cy="566928"/>
          </a:xfrm>
          <a:prstGeom prst="rect">
            <a:avLst/>
          </a:prstGeom>
          <a:noFill/>
          <a:ln/>
        </p:spPr>
        <p:txBody>
          <a:bodyPr wrap="square" lIns="0" tIns="0" rIns="0" bIns="0" rtlCol="0" anchor="t">
            <a:normAutofit/>
          </a:bodyPr>
          <a:lstStyle/>
          <a:p>
            <a:pPr indent="0" marL="0">
              <a:buNone/>
            </a:pPr>
            <a:r>
              <a:rPr lang="en-US" sz="1250" dirty="0">
                <a:solidFill>
                  <a:srgbClr val="E4E9EE"/>
                </a:solidFill>
                <a:latin typeface="Arial" pitchFamily="34" charset="0"/>
                <a:ea typeface="Arial" pitchFamily="34" charset="-122"/>
                <a:cs typeface="Arial" pitchFamily="34" charset="-120"/>
              </a:rPr>
              <a:t>Impact forecasts, a Gemini situation report and approved multilingual warnings for Bay of Bengal districts.</a:t>
            </a:r>
            <a:endParaRPr lang="en-US" sz="1250" dirty="0"/>
          </a:p>
        </p:txBody>
      </p:sp>
      <p:sp>
        <p:nvSpPr>
          <p:cNvPr id="10" name="Shape 6"/>
          <p:cNvSpPr/>
          <p:nvPr/>
        </p:nvSpPr>
        <p:spPr>
          <a:xfrm>
            <a:off x="649224" y="4937760"/>
            <a:ext cx="1243584" cy="310896"/>
          </a:xfrm>
          <a:prstGeom prst="roundRect">
            <a:avLst>
              <a:gd name="adj" fmla="val 23529"/>
            </a:avLst>
          </a:prstGeom>
          <a:solidFill>
            <a:srgbClr val="2A4A63"/>
          </a:solidFill>
          <a:ln/>
        </p:spPr>
      </p:sp>
      <p:sp>
        <p:nvSpPr>
          <p:cNvPr id="11" name="Text 7"/>
          <p:cNvSpPr txBox="1"/>
          <p:nvPr/>
        </p:nvSpPr>
        <p:spPr>
          <a:xfrm>
            <a:off x="6492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GEMINI 3.7 FLASH</a:t>
            </a:r>
            <a:endParaRPr lang="en-US" sz="750" dirty="0"/>
          </a:p>
        </p:txBody>
      </p:sp>
      <p:sp>
        <p:nvSpPr>
          <p:cNvPr id="12" name="Shape 8"/>
          <p:cNvSpPr/>
          <p:nvPr/>
        </p:nvSpPr>
        <p:spPr>
          <a:xfrm>
            <a:off x="2020824" y="4937760"/>
            <a:ext cx="1243584" cy="310896"/>
          </a:xfrm>
          <a:prstGeom prst="roundRect">
            <a:avLst>
              <a:gd name="adj" fmla="val 23529"/>
            </a:avLst>
          </a:prstGeom>
          <a:solidFill>
            <a:srgbClr val="2A4A63"/>
          </a:solidFill>
          <a:ln/>
        </p:spPr>
      </p:sp>
      <p:sp>
        <p:nvSpPr>
          <p:cNvPr id="13" name="Text 9"/>
          <p:cNvSpPr txBox="1"/>
          <p:nvPr/>
        </p:nvSpPr>
        <p:spPr>
          <a:xfrm>
            <a:off x="20208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HUMAN-APPROVED</a:t>
            </a:r>
            <a:endParaRPr lang="en-US" sz="750" dirty="0"/>
          </a:p>
        </p:txBody>
      </p:sp>
      <p:sp>
        <p:nvSpPr>
          <p:cNvPr id="14" name="Text 10"/>
          <p:cNvSpPr txBox="1"/>
          <p:nvPr/>
        </p:nvSpPr>
        <p:spPr>
          <a:xfrm>
            <a:off x="649224" y="5989320"/>
            <a:ext cx="4846320" cy="146304"/>
          </a:xfrm>
          <a:prstGeom prst="rect">
            <a:avLst/>
          </a:prstGeom>
          <a:noFill/>
          <a:ln/>
        </p:spPr>
        <p:txBody>
          <a:bodyPr wrap="square" lIns="0" tIns="0" rIns="0" bIns="0" rtlCol="0" anchor="t"/>
          <a:lstStyle/>
          <a:p>
            <a:pPr indent="0" marL="0">
              <a:buNone/>
            </a:pPr>
            <a:r>
              <a:rPr lang="en-US" sz="750" dirty="0">
                <a:solidFill>
                  <a:srgbClr val="C9D2DA"/>
                </a:solidFill>
                <a:latin typeface="Arial" pitchFamily="34" charset="0"/>
                <a:ea typeface="Arial" pitchFamily="34" charset="-122"/>
                <a:cs typeface="Arial" pitchFamily="34" charset="-120"/>
              </a:rPr>
              <a:t>A prototype by Spontom Enterprise Private Limited</a:t>
            </a:r>
            <a:endParaRPr lang="en-US" sz="750" dirty="0"/>
          </a:p>
        </p:txBody>
      </p:sp>
      <p:sp>
        <p:nvSpPr>
          <p:cNvPr id="15" name="Text 11"/>
          <p:cNvSpPr txBox="1"/>
          <p:nvPr/>
        </p:nvSpPr>
        <p:spPr>
          <a:xfrm>
            <a:off x="649224" y="6217920"/>
            <a:ext cx="4846320" cy="128016"/>
          </a:xfrm>
          <a:prstGeom prst="rect">
            <a:avLst/>
          </a:prstGeom>
          <a:noFill/>
          <a:ln/>
        </p:spPr>
        <p:txBody>
          <a:bodyPr wrap="square" lIns="0" tIns="0" rIns="0" bIns="0" rtlCol="0" anchor="t"/>
          <a:lstStyle/>
          <a:p>
            <a:pPr indent="0" marL="0">
              <a:buNone/>
            </a:pPr>
            <a:r>
              <a:rPr lang="en-US" sz="650" dirty="0">
                <a:solidFill>
                  <a:srgbClr val="8FA0B0"/>
                </a:solidFill>
                <a:latin typeface="Arial" pitchFamily="34" charset="0"/>
                <a:ea typeface="Arial" pitchFamily="34" charset="-122"/>
                <a:cs typeface="Arial" pitchFamily="34" charset="-120"/>
              </a:rPr>
              <a:t>DPIIT Recognised  •  Visakhapatnam  •  September 2026</a:t>
            </a:r>
            <a:endParaRPr lang="en-US" sz="650" dirty="0"/>
          </a:p>
        </p:txBody>
      </p:sp>
      <p:sp>
        <p:nvSpPr>
          <p:cNvPr id="16" name="Shape 12"/>
          <p:cNvSpPr/>
          <p:nvPr/>
        </p:nvSpPr>
        <p:spPr>
          <a:xfrm>
            <a:off x="5897880" y="6291072"/>
            <a:ext cx="6065215" cy="329184"/>
          </a:xfrm>
          <a:prstGeom prst="roundRect">
            <a:avLst>
              <a:gd name="adj" fmla="val 16667"/>
            </a:avLst>
          </a:prstGeom>
          <a:solidFill>
            <a:srgbClr val="1B3149"/>
          </a:solidFill>
          <a:ln/>
        </p:spPr>
      </p:sp>
      <p:sp>
        <p:nvSpPr>
          <p:cNvPr id="17" name="Text 13"/>
          <p:cNvSpPr txBox="1"/>
          <p:nvPr/>
        </p:nvSpPr>
        <p:spPr>
          <a:xfrm>
            <a:off x="6035040" y="6291072"/>
            <a:ext cx="5790895" cy="329184"/>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App screenshot: Fani 2019 replay, Puri, T-24h (sample data). Map © OpenStreetMap contributors (ODbL).</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01 — PROBLEM UNDERSTANDING</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The forecast is regional. The decisions are local.</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A district officer must turn each new bulletin into who to evacuate, what to protect and what to say.</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[1] IMD RSMC bulletins give regional track/surge guidance.  [7] Replay figures: TatRaksha Fani 2019 sample data (synthetic terrain), not official statistics.</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2</a:t>
            </a:r>
            <a:endParaRPr lang="en-US" sz="650" dirty="0"/>
          </a:p>
        </p:txBody>
      </p:sp>
      <p:sp>
        <p:nvSpPr>
          <p:cNvPr id="15" name="Shape 11"/>
          <p:cNvSpPr/>
          <p:nvPr/>
        </p:nvSpPr>
        <p:spPr>
          <a:xfrm>
            <a:off x="612648" y="1709928"/>
            <a:ext cx="3986784" cy="4233672"/>
          </a:xfrm>
          <a:prstGeom prst="roundRect">
            <a:avLst>
              <a:gd name="adj" fmla="val 2294"/>
            </a:avLst>
          </a:prstGeom>
          <a:solidFill>
            <a:srgbClr val="1B3149"/>
          </a:solidFill>
          <a:ln/>
        </p:spPr>
      </p:sp>
      <p:sp>
        <p:nvSpPr>
          <p:cNvPr id="16" name="Text 12"/>
          <p:cNvSpPr txBox="1"/>
          <p:nvPr/>
        </p:nvSpPr>
        <p:spPr>
          <a:xfrm>
            <a:off x="914400" y="2057400"/>
            <a:ext cx="3474720" cy="868680"/>
          </a:xfrm>
          <a:prstGeom prst="rect">
            <a:avLst/>
          </a:prstGeom>
          <a:noFill/>
          <a:ln/>
        </p:spPr>
        <p:txBody>
          <a:bodyPr wrap="square" lIns="0" tIns="0" rIns="0" bIns="0" rtlCol="0" anchor="t">
            <a:normAutofit/>
          </a:bodyPr>
          <a:lstStyle/>
          <a:p>
            <a:pPr indent="0" marL="0">
              <a:buNone/>
            </a:pPr>
            <a:r>
              <a:rPr lang="en-US" sz="2100" b="1" dirty="0">
                <a:solidFill>
                  <a:srgbClr val="FFFFFF"/>
                </a:solidFill>
                <a:latin typeface="Arial" pitchFamily="34" charset="0"/>
                <a:ea typeface="Arial" pitchFamily="34" charset="-122"/>
                <a:cs typeface="Arial" pitchFamily="34" charset="-120"/>
              </a:rPr>
              <a:t>One bulletin. Hundreds of local decisions.</a:t>
            </a:r>
            <a:endParaRPr lang="en-US" sz="2100" dirty="0"/>
          </a:p>
        </p:txBody>
      </p:sp>
      <p:sp>
        <p:nvSpPr>
          <p:cNvPr id="17" name="Shape 13"/>
          <p:cNvSpPr/>
          <p:nvPr/>
        </p:nvSpPr>
        <p:spPr>
          <a:xfrm>
            <a:off x="914400" y="3063240"/>
            <a:ext cx="1005840" cy="45720"/>
          </a:xfrm>
          <a:prstGeom prst="rect">
            <a:avLst/>
          </a:prstGeom>
          <a:solidFill>
            <a:srgbClr val="E8694A"/>
          </a:solidFill>
          <a:ln/>
        </p:spPr>
      </p:sp>
      <p:sp>
        <p:nvSpPr>
          <p:cNvPr id="18" name="Text 14"/>
          <p:cNvSpPr txBox="1"/>
          <p:nvPr/>
        </p:nvSpPr>
        <p:spPr>
          <a:xfrm>
            <a:off x="914400"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9ED8CC"/>
                </a:solidFill>
                <a:latin typeface="Arial" pitchFamily="34" charset="0"/>
                <a:ea typeface="Arial" pitchFamily="34" charset="-122"/>
                <a:cs typeface="Arial" pitchFamily="34" charset="-120"/>
              </a:rPr>
              <a:t>72</a:t>
            </a:r>
            <a:endParaRPr lang="en-US" sz="2800" dirty="0"/>
          </a:p>
        </p:txBody>
      </p:sp>
      <p:sp>
        <p:nvSpPr>
          <p:cNvPr id="19" name="Text 15"/>
          <p:cNvSpPr txBox="1"/>
          <p:nvPr/>
        </p:nvSpPr>
        <p:spPr>
          <a:xfrm>
            <a:off x="914400"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hours</a:t>
            </a:r>
            <a:endParaRPr lang="en-US" sz="900" dirty="0"/>
          </a:p>
        </p:txBody>
      </p:sp>
      <p:sp>
        <p:nvSpPr>
          <p:cNvPr id="20" name="Text 16"/>
          <p:cNvSpPr txBox="1"/>
          <p:nvPr/>
        </p:nvSpPr>
        <p:spPr>
          <a:xfrm>
            <a:off x="2084832"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9ED8CC"/>
                </a:solidFill>
                <a:latin typeface="Arial" pitchFamily="34" charset="0"/>
                <a:ea typeface="Arial" pitchFamily="34" charset="-122"/>
                <a:cs typeface="Arial" pitchFamily="34" charset="-120"/>
              </a:rPr>
              <a:t>30</a:t>
            </a:r>
            <a:endParaRPr lang="en-US" sz="2800" dirty="0"/>
          </a:p>
        </p:txBody>
      </p:sp>
      <p:sp>
        <p:nvSpPr>
          <p:cNvPr id="21" name="Text 17"/>
          <p:cNvSpPr txBox="1"/>
          <p:nvPr/>
        </p:nvSpPr>
        <p:spPr>
          <a:xfrm>
            <a:off x="2084832"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villages</a:t>
            </a:r>
            <a:endParaRPr lang="en-US" sz="900" dirty="0"/>
          </a:p>
        </p:txBody>
      </p:sp>
      <p:sp>
        <p:nvSpPr>
          <p:cNvPr id="22" name="Text 18"/>
          <p:cNvSpPr txBox="1"/>
          <p:nvPr/>
        </p:nvSpPr>
        <p:spPr>
          <a:xfrm>
            <a:off x="3255264"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F3CB7A"/>
                </a:solidFill>
                <a:latin typeface="Arial" pitchFamily="34" charset="0"/>
                <a:ea typeface="Arial" pitchFamily="34" charset="-122"/>
                <a:cs typeface="Arial" pitchFamily="34" charset="-120"/>
              </a:rPr>
              <a:t>1</a:t>
            </a:r>
            <a:endParaRPr lang="en-US" sz="2800" dirty="0"/>
          </a:p>
        </p:txBody>
      </p:sp>
      <p:sp>
        <p:nvSpPr>
          <p:cNvPr id="23" name="Text 19"/>
          <p:cNvSpPr txBox="1"/>
          <p:nvPr/>
        </p:nvSpPr>
        <p:spPr>
          <a:xfrm>
            <a:off x="3255264"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officer</a:t>
            </a:r>
            <a:endParaRPr lang="en-US" sz="900" dirty="0"/>
          </a:p>
        </p:txBody>
      </p:sp>
      <p:sp>
        <p:nvSpPr>
          <p:cNvPr id="24" name="Text 20"/>
          <p:cNvSpPr txBox="1"/>
          <p:nvPr/>
        </p:nvSpPr>
        <p:spPr>
          <a:xfrm>
            <a:off x="914400" y="4389120"/>
            <a:ext cx="3474720" cy="822960"/>
          </a:xfrm>
          <a:prstGeom prst="rect">
            <a:avLst/>
          </a:prstGeom>
          <a:noFill/>
          <a:ln/>
        </p:spPr>
        <p:txBody>
          <a:bodyPr wrap="square" lIns="0" tIns="0" rIns="0" bIns="0" rtlCol="0" anchor="t">
            <a:normAutofit/>
          </a:bodyPr>
          <a:lstStyle/>
          <a:p>
            <a:pPr indent="0" marL="0">
              <a:buNone/>
            </a:pPr>
            <a:r>
              <a:rPr lang="en-US" sz="1200" dirty="0">
                <a:solidFill>
                  <a:srgbClr val="E4E9EE"/>
                </a:solidFill>
                <a:latin typeface="Arial" pitchFamily="34" charset="0"/>
                <a:ea typeface="Arial" pitchFamily="34" charset="-122"/>
                <a:cs typeface="Arial" pitchFamily="34" charset="-120"/>
              </a:rPr>
              <a:t>Fani replay, T-24h: 59,600 people in high-risk villages; 5 villages with no shelter reachable by road.</a:t>
            </a:r>
            <a:endParaRPr lang="en-US" sz="1200" dirty="0"/>
          </a:p>
        </p:txBody>
      </p:sp>
      <p:sp>
        <p:nvSpPr>
          <p:cNvPr id="25" name="Shape 21"/>
          <p:cNvSpPr/>
          <p:nvPr/>
        </p:nvSpPr>
        <p:spPr>
          <a:xfrm>
            <a:off x="914400" y="5349240"/>
            <a:ext cx="1554480" cy="310896"/>
          </a:xfrm>
          <a:prstGeom prst="roundRect">
            <a:avLst>
              <a:gd name="adj" fmla="val 23529"/>
            </a:avLst>
          </a:prstGeom>
          <a:solidFill>
            <a:srgbClr val="E8694A"/>
          </a:solidFill>
          <a:ln/>
        </p:spPr>
      </p:sp>
      <p:sp>
        <p:nvSpPr>
          <p:cNvPr id="26" name="Text 22"/>
          <p:cNvSpPr txBox="1"/>
          <p:nvPr/>
        </p:nvSpPr>
        <p:spPr>
          <a:xfrm>
            <a:off x="914400" y="5349240"/>
            <a:ext cx="1554480" cy="310896"/>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LOCAL-IMPACT GAP</a:t>
            </a:r>
            <a:endParaRPr lang="en-US" sz="800" dirty="0"/>
          </a:p>
        </p:txBody>
      </p:sp>
      <p:sp>
        <p:nvSpPr>
          <p:cNvPr id="27" name="Shape 23"/>
          <p:cNvSpPr/>
          <p:nvPr/>
        </p:nvSpPr>
        <p:spPr>
          <a:xfrm>
            <a:off x="4992624" y="2093976"/>
            <a:ext cx="1362456" cy="1344168"/>
          </a:xfrm>
          <a:prstGeom prst="roundRect">
            <a:avLst>
              <a:gd name="adj" fmla="val 6803"/>
            </a:avLst>
          </a:prstGeom>
          <a:solidFill>
            <a:srgbClr val="FFFDF7"/>
          </a:solidFill>
          <a:ln w="9525">
            <a:solidFill>
              <a:srgbClr val="DCD5C5"/>
            </a:solidFill>
            <a:prstDash val="solid"/>
          </a:ln>
        </p:spPr>
      </p:sp>
      <p:sp>
        <p:nvSpPr>
          <p:cNvPr id="28" name="Text 24"/>
          <p:cNvSpPr txBox="1"/>
          <p:nvPr/>
        </p:nvSpPr>
        <p:spPr>
          <a:xfrm>
            <a:off x="5084064"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BULLETIN</a:t>
            </a:r>
            <a:endParaRPr lang="en-US" sz="1500" dirty="0"/>
          </a:p>
        </p:txBody>
      </p:sp>
      <p:sp>
        <p:nvSpPr>
          <p:cNvPr id="29" name="Text 25"/>
          <p:cNvSpPr txBox="1"/>
          <p:nvPr/>
        </p:nvSpPr>
        <p:spPr>
          <a:xfrm>
            <a:off x="5084064"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Track, wind, surge text</a:t>
            </a:r>
            <a:endParaRPr lang="en-US" sz="950" dirty="0"/>
          </a:p>
        </p:txBody>
      </p:sp>
      <p:sp>
        <p:nvSpPr>
          <p:cNvPr id="30" name="Text 26"/>
          <p:cNvSpPr txBox="1"/>
          <p:nvPr/>
        </p:nvSpPr>
        <p:spPr>
          <a:xfrm>
            <a:off x="6355080"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1" name="Shape 27"/>
          <p:cNvSpPr/>
          <p:nvPr/>
        </p:nvSpPr>
        <p:spPr>
          <a:xfrm>
            <a:off x="6611112" y="2093976"/>
            <a:ext cx="1362456" cy="1344168"/>
          </a:xfrm>
          <a:prstGeom prst="roundRect">
            <a:avLst>
              <a:gd name="adj" fmla="val 6803"/>
            </a:avLst>
          </a:prstGeom>
          <a:solidFill>
            <a:srgbClr val="FFFDF7"/>
          </a:solidFill>
          <a:ln w="9525">
            <a:solidFill>
              <a:srgbClr val="DCD5C5"/>
            </a:solidFill>
            <a:prstDash val="solid"/>
          </a:ln>
        </p:spPr>
      </p:sp>
      <p:sp>
        <p:nvSpPr>
          <p:cNvPr id="32" name="Text 28"/>
          <p:cNvSpPr txBox="1"/>
          <p:nvPr/>
        </p:nvSpPr>
        <p:spPr>
          <a:xfrm>
            <a:off x="6702552"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COMPILE</a:t>
            </a:r>
            <a:endParaRPr lang="en-US" sz="1500" dirty="0"/>
          </a:p>
        </p:txBody>
      </p:sp>
      <p:sp>
        <p:nvSpPr>
          <p:cNvPr id="33" name="Text 29"/>
          <p:cNvSpPr txBox="1"/>
          <p:nvPr/>
        </p:nvSpPr>
        <p:spPr>
          <a:xfrm>
            <a:off x="6702552"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Lists, maps, phone calls</a:t>
            </a:r>
            <a:endParaRPr lang="en-US" sz="950" dirty="0"/>
          </a:p>
        </p:txBody>
      </p:sp>
      <p:sp>
        <p:nvSpPr>
          <p:cNvPr id="34" name="Text 30"/>
          <p:cNvSpPr txBox="1"/>
          <p:nvPr/>
        </p:nvSpPr>
        <p:spPr>
          <a:xfrm>
            <a:off x="7973568"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5" name="Shape 31"/>
          <p:cNvSpPr/>
          <p:nvPr/>
        </p:nvSpPr>
        <p:spPr>
          <a:xfrm>
            <a:off x="8229600" y="2093976"/>
            <a:ext cx="1362456" cy="1344168"/>
          </a:xfrm>
          <a:prstGeom prst="roundRect">
            <a:avLst>
              <a:gd name="adj" fmla="val 6803"/>
            </a:avLst>
          </a:prstGeom>
          <a:solidFill>
            <a:srgbClr val="FBE6DE"/>
          </a:solidFill>
          <a:ln w="9525">
            <a:solidFill>
              <a:srgbClr val="E8694A"/>
            </a:solidFill>
            <a:prstDash val="solid"/>
          </a:ln>
        </p:spPr>
      </p:sp>
      <p:sp>
        <p:nvSpPr>
          <p:cNvPr id="36" name="Text 32"/>
          <p:cNvSpPr txBox="1"/>
          <p:nvPr/>
        </p:nvSpPr>
        <p:spPr>
          <a:xfrm>
            <a:off x="8321040"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7" name="Text 33"/>
          <p:cNvSpPr txBox="1"/>
          <p:nvPr/>
        </p:nvSpPr>
        <p:spPr>
          <a:xfrm>
            <a:off x="8321040"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Who floods? Which road cuts?</a:t>
            </a:r>
            <a:endParaRPr lang="en-US" sz="950" dirty="0"/>
          </a:p>
        </p:txBody>
      </p:sp>
      <p:sp>
        <p:nvSpPr>
          <p:cNvPr id="38" name="Text 34"/>
          <p:cNvSpPr txBox="1"/>
          <p:nvPr/>
        </p:nvSpPr>
        <p:spPr>
          <a:xfrm>
            <a:off x="9592056"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9" name="Shape 35"/>
          <p:cNvSpPr/>
          <p:nvPr/>
        </p:nvSpPr>
        <p:spPr>
          <a:xfrm>
            <a:off x="9848088" y="2093976"/>
            <a:ext cx="1362456" cy="1344168"/>
          </a:xfrm>
          <a:prstGeom prst="roundRect">
            <a:avLst>
              <a:gd name="adj" fmla="val 6803"/>
            </a:avLst>
          </a:prstGeom>
          <a:solidFill>
            <a:srgbClr val="FFFDF7"/>
          </a:solidFill>
          <a:ln w="9525">
            <a:solidFill>
              <a:srgbClr val="DCD5C5"/>
            </a:solidFill>
            <a:prstDash val="solid"/>
          </a:ln>
        </p:spPr>
      </p:sp>
      <p:sp>
        <p:nvSpPr>
          <p:cNvPr id="40" name="Text 36"/>
          <p:cNvSpPr txBox="1"/>
          <p:nvPr/>
        </p:nvSpPr>
        <p:spPr>
          <a:xfrm>
            <a:off x="9939528"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WARN</a:t>
            </a:r>
            <a:endParaRPr lang="en-US" sz="1500" dirty="0"/>
          </a:p>
        </p:txBody>
      </p:sp>
      <p:sp>
        <p:nvSpPr>
          <p:cNvPr id="41" name="Text 37"/>
          <p:cNvSpPr txBox="1"/>
          <p:nvPr/>
        </p:nvSpPr>
        <p:spPr>
          <a:xfrm>
            <a:off x="9939528"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Drafted by hand, per language</a:t>
            </a:r>
            <a:endParaRPr lang="en-US" sz="950" dirty="0"/>
          </a:p>
        </p:txBody>
      </p:sp>
      <p:sp>
        <p:nvSpPr>
          <p:cNvPr id="42" name="Text 38"/>
          <p:cNvSpPr txBox="1"/>
          <p:nvPr/>
        </p:nvSpPr>
        <p:spPr>
          <a:xfrm>
            <a:off x="4992624" y="4005072"/>
            <a:ext cx="3657600" cy="164592"/>
          </a:xfrm>
          <a:prstGeom prst="rect">
            <a:avLst/>
          </a:prstGeom>
          <a:noFill/>
          <a:ln/>
        </p:spPr>
        <p:txBody>
          <a:bodyPr wrap="square" lIns="0" tIns="0" rIns="0" bIns="0" rtlCol="0" anchor="t"/>
          <a:lstStyle/>
          <a:p>
            <a:pPr indent="0" marL="0">
              <a:buNone/>
            </a:pPr>
            <a:r>
              <a:rPr lang="en-US" sz="850" b="1" spc="200" kern="0" dirty="0">
                <a:solidFill>
                  <a:srgbClr val="12796D"/>
                </a:solidFill>
                <a:latin typeface="Arial" pitchFamily="34" charset="0"/>
                <a:ea typeface="Arial" pitchFamily="34" charset="-122"/>
                <a:cs typeface="Arial" pitchFamily="34" charset="-120"/>
              </a:rPr>
              <a:t>FOCUSED PROBLEM</a:t>
            </a:r>
            <a:endParaRPr lang="en-US" sz="850" dirty="0"/>
          </a:p>
        </p:txBody>
      </p:sp>
      <p:sp>
        <p:nvSpPr>
          <p:cNvPr id="43" name="Text 39"/>
          <p:cNvSpPr txBox="1"/>
          <p:nvPr/>
        </p:nvSpPr>
        <p:spPr>
          <a:xfrm>
            <a:off x="4992624" y="4434840"/>
            <a:ext cx="6400800" cy="777240"/>
          </a:xfrm>
          <a:prstGeom prst="rect">
            <a:avLst/>
          </a:prstGeom>
          <a:noFill/>
          <a:ln/>
        </p:spPr>
        <p:txBody>
          <a:bodyPr wrap="square" lIns="0" tIns="0" rIns="0" bIns="0" rtlCol="0" anchor="t">
            <a:normAutofit/>
          </a:bodyPr>
          <a:lstStyle/>
          <a:p>
            <a:pPr indent="0" marL="0">
              <a:buNone/>
            </a:pPr>
            <a:r>
              <a:rPr lang="en-US" sz="2100" b="1" dirty="0">
                <a:solidFill>
                  <a:srgbClr val="1B3149"/>
                </a:solidFill>
                <a:latin typeface="Arial" pitchFamily="34" charset="0"/>
                <a:ea typeface="Arial" pitchFamily="34" charset="-122"/>
                <a:cs typeface="Arial" pitchFamily="34" charset="-120"/>
              </a:rPr>
              <a:t>Officers lack a village-level impact picture that updates with every bulletin.</a:t>
            </a:r>
            <a:endParaRPr lang="en-US" sz="2100" dirty="0"/>
          </a:p>
        </p:txBody>
      </p:sp>
      <p:sp>
        <p:nvSpPr>
          <p:cNvPr id="44" name="Text 40"/>
          <p:cNvSpPr txBox="1"/>
          <p:nvPr/>
        </p:nvSpPr>
        <p:spPr>
          <a:xfrm>
            <a:off x="4992624" y="5440680"/>
            <a:ext cx="1005840" cy="201168"/>
          </a:xfrm>
          <a:prstGeom prst="rect">
            <a:avLst/>
          </a:prstGeom>
          <a:noFill/>
          <a:ln/>
        </p:spPr>
        <p:txBody>
          <a:bodyPr wrap="square" lIns="0" tIns="0" rIns="0" bIns="0" rtlCol="0" anchor="t"/>
          <a:lstStyle/>
          <a:p>
            <a:pPr indent="0" marL="0">
              <a:buNone/>
            </a:pPr>
            <a:r>
              <a:rPr lang="en-US" sz="950" b="1" dirty="0">
                <a:solidFill>
                  <a:srgbClr val="E8694A"/>
                </a:solidFill>
                <a:latin typeface="Arial" pitchFamily="34" charset="0"/>
                <a:ea typeface="Arial" pitchFamily="34" charset="-122"/>
                <a:cs typeface="Arial" pitchFamily="34" charset="-120"/>
              </a:rPr>
              <a:t>Consequence</a:t>
            </a:r>
            <a:endParaRPr lang="en-US" sz="950" dirty="0"/>
          </a:p>
        </p:txBody>
      </p:sp>
      <p:sp>
        <p:nvSpPr>
          <p:cNvPr id="45" name="Text 41"/>
          <p:cNvSpPr txBox="1"/>
          <p:nvPr/>
        </p:nvSpPr>
        <p:spPr>
          <a:xfrm>
            <a:off x="5998464" y="5422392"/>
            <a:ext cx="5394960" cy="411480"/>
          </a:xfrm>
          <a:prstGeom prst="rect">
            <a:avLst/>
          </a:prstGeom>
          <a:noFill/>
          <a:ln/>
        </p:spPr>
        <p:txBody>
          <a:bodyPr wrap="square" lIns="0" tIns="0" rIns="0" bIns="0" rtlCol="0" anchor="t">
            <a:normAutofit/>
          </a:bodyPr>
          <a:lstStyle/>
          <a:p>
            <a:pPr indent="0" marL="0">
              <a:buNone/>
            </a:pPr>
            <a:r>
              <a:rPr lang="en-US" sz="1200" dirty="0">
                <a:solidFill>
                  <a:srgbClr val="1B3149"/>
                </a:solidFill>
                <a:latin typeface="Arial" pitchFamily="34" charset="0"/>
                <a:ea typeface="Arial" pitchFamily="34" charset="-122"/>
                <a:cs typeface="Arial" pitchFamily="34" charset="-120"/>
              </a:rPr>
              <a:t>Evacuation is late or mistargeted, shelters turn out unreachable, warnings lag in local languages.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02 — PROPOSED SOLUTION</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TatRaksha turns each bulletin into an approved warning.</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One pipeline from the official forecast to a CAP 1.2 alert, with a human decision at the end.</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Real output of the app (advisory_v1, gemini-3.7-flash) on the Fani 2019 replay at T-24h; replay data are samples. [4] OASIS CAP 1.2.</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3</a:t>
            </a:r>
            <a:endParaRPr lang="en-US" sz="650" dirty="0"/>
          </a:p>
        </p:txBody>
      </p:sp>
      <p:sp>
        <p:nvSpPr>
          <p:cNvPr id="15" name="Shape 11"/>
          <p:cNvSpPr/>
          <p:nvPr/>
        </p:nvSpPr>
        <p:spPr>
          <a:xfrm>
            <a:off x="640080" y="1783080"/>
            <a:ext cx="4892040" cy="1024128"/>
          </a:xfrm>
          <a:prstGeom prst="roundRect">
            <a:avLst>
              <a:gd name="adj" fmla="val 8929"/>
            </a:avLst>
          </a:prstGeom>
          <a:solidFill>
            <a:srgbClr val="FFFDF7"/>
          </a:solidFill>
          <a:ln w="9525">
            <a:solidFill>
              <a:srgbClr val="DCD5C5"/>
            </a:solidFill>
            <a:prstDash val="solid"/>
          </a:ln>
        </p:spPr>
      </p:sp>
      <p:sp>
        <p:nvSpPr>
          <p:cNvPr id="16" name="Shape 12"/>
          <p:cNvSpPr/>
          <p:nvPr/>
        </p:nvSpPr>
        <p:spPr>
          <a:xfrm>
            <a:off x="841248" y="1956816"/>
            <a:ext cx="393192" cy="393192"/>
          </a:xfrm>
          <a:prstGeom prst="ellipse">
            <a:avLst/>
          </a:prstGeom>
          <a:solidFill>
            <a:srgbClr val="12796D"/>
          </a:solidFill>
          <a:ln/>
        </p:spPr>
      </p:sp>
      <p:sp>
        <p:nvSpPr>
          <p:cNvPr id="17" name="Text 13"/>
          <p:cNvSpPr txBox="1"/>
          <p:nvPr/>
        </p:nvSpPr>
        <p:spPr>
          <a:xfrm>
            <a:off x="841248" y="1956816"/>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8" name="Text 14"/>
          <p:cNvSpPr txBox="1"/>
          <p:nvPr/>
        </p:nvSpPr>
        <p:spPr>
          <a:xfrm>
            <a:off x="1389888" y="2002536"/>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IMPACT FORECAST</a:t>
            </a:r>
            <a:endParaRPr lang="en-US" sz="1300" dirty="0"/>
          </a:p>
        </p:txBody>
      </p:sp>
      <p:sp>
        <p:nvSpPr>
          <p:cNvPr id="19" name="Text 15"/>
          <p:cNvSpPr txBox="1"/>
          <p:nvPr/>
        </p:nvSpPr>
        <p:spPr>
          <a:xfrm>
            <a:off x="3063240" y="2002536"/>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Surge, rain-flood and wind give every village a transparent Village Risk score.</a:t>
            </a:r>
            <a:endParaRPr lang="en-US" sz="1050" dirty="0"/>
          </a:p>
        </p:txBody>
      </p:sp>
      <p:sp>
        <p:nvSpPr>
          <p:cNvPr id="20" name="Shape 16"/>
          <p:cNvSpPr/>
          <p:nvPr/>
        </p:nvSpPr>
        <p:spPr>
          <a:xfrm>
            <a:off x="640080" y="3035808"/>
            <a:ext cx="4892040" cy="1024128"/>
          </a:xfrm>
          <a:prstGeom prst="roundRect">
            <a:avLst>
              <a:gd name="adj" fmla="val 8929"/>
            </a:avLst>
          </a:prstGeom>
          <a:solidFill>
            <a:srgbClr val="DCEEE8"/>
          </a:solidFill>
          <a:ln w="9525">
            <a:solidFill>
              <a:srgbClr val="12796D"/>
            </a:solidFill>
            <a:prstDash val="solid"/>
          </a:ln>
        </p:spPr>
      </p:sp>
      <p:sp>
        <p:nvSpPr>
          <p:cNvPr id="21" name="Shape 17"/>
          <p:cNvSpPr/>
          <p:nvPr/>
        </p:nvSpPr>
        <p:spPr>
          <a:xfrm>
            <a:off x="841248" y="3209544"/>
            <a:ext cx="393192" cy="393192"/>
          </a:xfrm>
          <a:prstGeom prst="ellipse">
            <a:avLst/>
          </a:prstGeom>
          <a:solidFill>
            <a:srgbClr val="12796D"/>
          </a:solidFill>
          <a:ln/>
        </p:spPr>
      </p:sp>
      <p:sp>
        <p:nvSpPr>
          <p:cNvPr id="22" name="Text 18"/>
          <p:cNvSpPr txBox="1"/>
          <p:nvPr/>
        </p:nvSpPr>
        <p:spPr>
          <a:xfrm>
            <a:off x="841248" y="3209544"/>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23" name="Text 19"/>
          <p:cNvSpPr txBox="1"/>
          <p:nvPr/>
        </p:nvSpPr>
        <p:spPr>
          <a:xfrm>
            <a:off x="1389888" y="3255264"/>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GEMINI REASONING</a:t>
            </a:r>
            <a:endParaRPr lang="en-US" sz="1300" dirty="0"/>
          </a:p>
        </p:txBody>
      </p:sp>
      <p:sp>
        <p:nvSpPr>
          <p:cNvPr id="24" name="Text 20"/>
          <p:cNvSpPr txBox="1"/>
          <p:nvPr/>
        </p:nvSpPr>
        <p:spPr>
          <a:xfrm>
            <a:off x="3063240" y="3255264"/>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Multimodal situation report from hazard map, bulletin and tables; numbers checked.</a:t>
            </a:r>
            <a:endParaRPr lang="en-US" sz="1050" dirty="0"/>
          </a:p>
        </p:txBody>
      </p:sp>
      <p:sp>
        <p:nvSpPr>
          <p:cNvPr id="25" name="Shape 21"/>
          <p:cNvSpPr/>
          <p:nvPr/>
        </p:nvSpPr>
        <p:spPr>
          <a:xfrm>
            <a:off x="640080" y="4288536"/>
            <a:ext cx="4892040" cy="1024128"/>
          </a:xfrm>
          <a:prstGeom prst="roundRect">
            <a:avLst>
              <a:gd name="adj" fmla="val 8929"/>
            </a:avLst>
          </a:prstGeom>
          <a:solidFill>
            <a:srgbClr val="FFFDF7"/>
          </a:solidFill>
          <a:ln w="9525">
            <a:solidFill>
              <a:srgbClr val="DCD5C5"/>
            </a:solidFill>
            <a:prstDash val="solid"/>
          </a:ln>
        </p:spPr>
      </p:sp>
      <p:sp>
        <p:nvSpPr>
          <p:cNvPr id="26" name="Shape 22"/>
          <p:cNvSpPr/>
          <p:nvPr/>
        </p:nvSpPr>
        <p:spPr>
          <a:xfrm>
            <a:off x="841248" y="4462272"/>
            <a:ext cx="393192" cy="393192"/>
          </a:xfrm>
          <a:prstGeom prst="ellipse">
            <a:avLst/>
          </a:prstGeom>
          <a:solidFill>
            <a:srgbClr val="E8694A"/>
          </a:solidFill>
          <a:ln/>
        </p:spPr>
      </p:sp>
      <p:sp>
        <p:nvSpPr>
          <p:cNvPr id="27" name="Text 23"/>
          <p:cNvSpPr txBox="1"/>
          <p:nvPr/>
        </p:nvSpPr>
        <p:spPr>
          <a:xfrm>
            <a:off x="841248" y="4462272"/>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28" name="Text 24"/>
          <p:cNvSpPr txBox="1"/>
          <p:nvPr/>
        </p:nvSpPr>
        <p:spPr>
          <a:xfrm>
            <a:off x="1389888" y="4507992"/>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APPROVED WARNING</a:t>
            </a:r>
            <a:endParaRPr lang="en-US" sz="1300" dirty="0"/>
          </a:p>
        </p:txBody>
      </p:sp>
      <p:sp>
        <p:nvSpPr>
          <p:cNvPr id="29" name="Text 25"/>
          <p:cNvSpPr txBox="1"/>
          <p:nvPr/>
        </p:nvSpPr>
        <p:spPr>
          <a:xfrm>
            <a:off x="3063240" y="4507992"/>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Odia, Bengali or English advisory; officer approves; CAP 1.2; sandbox dispatch.</a:t>
            </a:r>
            <a:endParaRPr lang="en-US" sz="1050" dirty="0"/>
          </a:p>
        </p:txBody>
      </p:sp>
      <p:sp>
        <p:nvSpPr>
          <p:cNvPr id="30" name="Shape 26"/>
          <p:cNvSpPr/>
          <p:nvPr/>
        </p:nvSpPr>
        <p:spPr>
          <a:xfrm>
            <a:off x="5961888" y="1691640"/>
            <a:ext cx="5468112" cy="4361688"/>
          </a:xfrm>
          <a:prstGeom prst="roundRect">
            <a:avLst>
              <a:gd name="adj" fmla="val 1258"/>
            </a:avLst>
          </a:prstGeom>
          <a:solidFill>
            <a:srgbClr val="FFFFFF"/>
          </a:solidFill>
          <a:ln w="9525">
            <a:solidFill>
              <a:srgbClr val="1B3149"/>
            </a:solidFill>
            <a:prstDash val="solid"/>
          </a:ln>
        </p:spPr>
      </p:sp>
      <p:sp>
        <p:nvSpPr>
          <p:cNvPr id="31" name="Shape 27"/>
          <p:cNvSpPr/>
          <p:nvPr/>
        </p:nvSpPr>
        <p:spPr>
          <a:xfrm>
            <a:off x="5961888" y="1691640"/>
            <a:ext cx="5468112" cy="585216"/>
          </a:xfrm>
          <a:prstGeom prst="rect">
            <a:avLst/>
          </a:prstGeom>
          <a:solidFill>
            <a:srgbClr val="1B3149"/>
          </a:solidFill>
          <a:ln/>
        </p:spPr>
      </p:sp>
      <p:sp>
        <p:nvSpPr>
          <p:cNvPr id="32" name="Text 28"/>
          <p:cNvSpPr txBox="1"/>
          <p:nvPr/>
        </p:nvSpPr>
        <p:spPr>
          <a:xfrm>
            <a:off x="6236208" y="1691640"/>
            <a:ext cx="3200400" cy="58521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ADVISORY DRAFT  •  SATAPADA</a:t>
            </a:r>
            <a:endParaRPr lang="en-US" sz="1100" dirty="0"/>
          </a:p>
        </p:txBody>
      </p:sp>
      <p:sp>
        <p:nvSpPr>
          <p:cNvPr id="33" name="Shape 29"/>
          <p:cNvSpPr/>
          <p:nvPr/>
        </p:nvSpPr>
        <p:spPr>
          <a:xfrm>
            <a:off x="9555480" y="1828800"/>
            <a:ext cx="1600200" cy="310896"/>
          </a:xfrm>
          <a:prstGeom prst="roundRect">
            <a:avLst>
              <a:gd name="adj" fmla="val 23529"/>
            </a:avLst>
          </a:prstGeom>
          <a:solidFill>
            <a:srgbClr val="2A4A63"/>
          </a:solidFill>
          <a:ln/>
        </p:spPr>
      </p:sp>
      <p:sp>
        <p:nvSpPr>
          <p:cNvPr id="34" name="Text 30"/>
          <p:cNvSpPr txBox="1"/>
          <p:nvPr/>
        </p:nvSpPr>
        <p:spPr>
          <a:xfrm>
            <a:off x="9555480" y="1828800"/>
            <a:ext cx="1600200" cy="310896"/>
          </a:xfrm>
          <a:prstGeom prst="rect">
            <a:avLst/>
          </a:prstGeom>
          <a:noFill/>
          <a:ln/>
        </p:spPr>
        <p:txBody>
          <a:bodyPr wrap="square" lIns="0" tIns="0" rIns="0" bIns="0" rtlCol="0" anchor="ctr"/>
          <a:lstStyle/>
          <a:p>
            <a:pPr algn="ctr" indent="0" marL="0">
              <a:buNone/>
            </a:pPr>
            <a:r>
              <a:rPr lang="en-US" sz="750" b="1" spc="50" kern="0" dirty="0">
                <a:solidFill>
                  <a:srgbClr val="F3CB7A"/>
                </a:solidFill>
                <a:latin typeface="Arial" pitchFamily="34" charset="0"/>
                <a:ea typeface="Arial" pitchFamily="34" charset="-122"/>
                <a:cs typeface="Arial" pitchFamily="34" charset="-120"/>
              </a:rPr>
              <a:t>NEEDS APPROVAL</a:t>
            </a:r>
            <a:endParaRPr lang="en-US" sz="750" dirty="0"/>
          </a:p>
        </p:txBody>
      </p:sp>
      <p:sp>
        <p:nvSpPr>
          <p:cNvPr id="35" name="Text 31"/>
          <p:cNvSpPr txBox="1"/>
          <p:nvPr/>
        </p:nvSpPr>
        <p:spPr>
          <a:xfrm>
            <a:off x="6236208" y="2487168"/>
            <a:ext cx="4919472" cy="365760"/>
          </a:xfrm>
          <a:prstGeom prst="rect">
            <a:avLst/>
          </a:prstGeom>
          <a:noFill/>
          <a:ln/>
        </p:spPr>
        <p:txBody>
          <a:bodyPr wrap="square" lIns="0" tIns="0" rIns="0" bIns="0" rtlCol="0" anchor="t">
            <a:normAutofit/>
          </a:bodyPr>
          <a:lstStyle/>
          <a:p>
            <a:pPr indent="0" marL="0">
              <a:buNone/>
            </a:pPr>
            <a:r>
              <a:rPr lang="en-US" sz="1500" b="1" dirty="0">
                <a:solidFill>
                  <a:srgbClr val="1B3149"/>
                </a:solidFill>
                <a:latin typeface="Arial" pitchFamily="34" charset="0"/>
                <a:ea typeface="Arial" pitchFamily="34" charset="-122"/>
                <a:cs typeface="Arial" pitchFamily="34" charset="-120"/>
              </a:rPr>
              <a:t>Evacuation order • Fani • T-24h • English</a:t>
            </a:r>
            <a:endParaRPr lang="en-US" sz="1500" dirty="0"/>
          </a:p>
        </p:txBody>
      </p:sp>
      <p:sp>
        <p:nvSpPr>
          <p:cNvPr id="36" name="Shape 32"/>
          <p:cNvSpPr/>
          <p:nvPr/>
        </p:nvSpPr>
        <p:spPr>
          <a:xfrm>
            <a:off x="6236208" y="3017520"/>
            <a:ext cx="384048" cy="384048"/>
          </a:xfrm>
          <a:prstGeom prst="ellipse">
            <a:avLst/>
          </a:prstGeom>
          <a:solidFill>
            <a:srgbClr val="12796D"/>
          </a:solidFill>
          <a:ln/>
        </p:spPr>
      </p:sp>
      <p:sp>
        <p:nvSpPr>
          <p:cNvPr id="37" name="Text 33"/>
          <p:cNvSpPr txBox="1"/>
          <p:nvPr/>
        </p:nvSpPr>
        <p:spPr>
          <a:xfrm>
            <a:off x="6236208" y="30175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8" name="Text 34"/>
          <p:cNvSpPr txBox="1"/>
          <p:nvPr/>
        </p:nvSpPr>
        <p:spPr>
          <a:xfrm>
            <a:off x="6784848" y="3035808"/>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What: winds up to 170 km/h, heavy rain and flooding</a:t>
            </a:r>
            <a:endParaRPr lang="en-US" sz="1050" dirty="0"/>
          </a:p>
        </p:txBody>
      </p:sp>
      <p:sp>
        <p:nvSpPr>
          <p:cNvPr id="39" name="Shape 35"/>
          <p:cNvSpPr/>
          <p:nvPr/>
        </p:nvSpPr>
        <p:spPr>
          <a:xfrm>
            <a:off x="6236208" y="3493008"/>
            <a:ext cx="384048" cy="384048"/>
          </a:xfrm>
          <a:prstGeom prst="ellipse">
            <a:avLst/>
          </a:prstGeom>
          <a:solidFill>
            <a:srgbClr val="12796D"/>
          </a:solidFill>
          <a:ln/>
        </p:spPr>
      </p:sp>
      <p:sp>
        <p:nvSpPr>
          <p:cNvPr id="40" name="Text 36"/>
          <p:cNvSpPr txBox="1"/>
          <p:nvPr/>
        </p:nvSpPr>
        <p:spPr>
          <a:xfrm>
            <a:off x="6236208" y="3493008"/>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1" name="Text 37"/>
          <p:cNvSpPr txBox="1"/>
          <p:nvPr/>
        </p:nvSpPr>
        <p:spPr>
          <a:xfrm>
            <a:off x="6784848" y="3511296"/>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Where: Satapada, Krushnaprasad block, Puri</a:t>
            </a:r>
            <a:endParaRPr lang="en-US" sz="1050" dirty="0"/>
          </a:p>
        </p:txBody>
      </p:sp>
      <p:sp>
        <p:nvSpPr>
          <p:cNvPr id="42" name="Shape 38"/>
          <p:cNvSpPr/>
          <p:nvPr/>
        </p:nvSpPr>
        <p:spPr>
          <a:xfrm>
            <a:off x="6236208" y="3968496"/>
            <a:ext cx="384048" cy="384048"/>
          </a:xfrm>
          <a:prstGeom prst="ellipse">
            <a:avLst/>
          </a:prstGeom>
          <a:solidFill>
            <a:srgbClr val="12796D"/>
          </a:solidFill>
          <a:ln/>
        </p:spPr>
      </p:sp>
      <p:sp>
        <p:nvSpPr>
          <p:cNvPr id="43" name="Text 39"/>
          <p:cNvSpPr txBox="1"/>
          <p:nvPr/>
        </p:nvSpPr>
        <p:spPr>
          <a:xfrm>
            <a:off x="6236208" y="396849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44" name="Text 40"/>
          <p:cNvSpPr txBox="1"/>
          <p:nvPr/>
        </p:nvSpPr>
        <p:spPr>
          <a:xfrm>
            <a:off x="6784848" y="3986784"/>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When: from 02-05-2019 17:27 IST</a:t>
            </a:r>
            <a:endParaRPr lang="en-US" sz="1050" dirty="0"/>
          </a:p>
        </p:txBody>
      </p:sp>
      <p:sp>
        <p:nvSpPr>
          <p:cNvPr id="45" name="Shape 41"/>
          <p:cNvSpPr/>
          <p:nvPr/>
        </p:nvSpPr>
        <p:spPr>
          <a:xfrm>
            <a:off x="6236208" y="4443984"/>
            <a:ext cx="384048" cy="384048"/>
          </a:xfrm>
          <a:prstGeom prst="ellipse">
            <a:avLst/>
          </a:prstGeom>
          <a:solidFill>
            <a:srgbClr val="12796D"/>
          </a:solidFill>
          <a:ln/>
        </p:spPr>
      </p:sp>
      <p:sp>
        <p:nvSpPr>
          <p:cNvPr id="46" name="Text 42"/>
          <p:cNvSpPr txBox="1"/>
          <p:nvPr/>
        </p:nvSpPr>
        <p:spPr>
          <a:xfrm>
            <a:off x="6236208" y="4443984"/>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47" name="Text 43"/>
          <p:cNvSpPr txBox="1"/>
          <p:nvPr/>
        </p:nvSpPr>
        <p:spPr>
          <a:xfrm>
            <a:off x="6784848" y="4462272"/>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Action: Leave now for the cyclone shelter. Do not wait.</a:t>
            </a:r>
            <a:endParaRPr lang="en-US" sz="1050" dirty="0"/>
          </a:p>
        </p:txBody>
      </p:sp>
      <p:sp>
        <p:nvSpPr>
          <p:cNvPr id="48" name="Shape 44"/>
          <p:cNvSpPr/>
          <p:nvPr/>
        </p:nvSpPr>
        <p:spPr>
          <a:xfrm>
            <a:off x="6236208" y="4919472"/>
            <a:ext cx="384048" cy="384048"/>
          </a:xfrm>
          <a:prstGeom prst="ellipse">
            <a:avLst/>
          </a:prstGeom>
          <a:solidFill>
            <a:srgbClr val="E8694A"/>
          </a:solidFill>
          <a:ln/>
        </p:spPr>
      </p:sp>
      <p:sp>
        <p:nvSpPr>
          <p:cNvPr id="49" name="Text 45"/>
          <p:cNvSpPr txBox="1"/>
          <p:nvPr/>
        </p:nvSpPr>
        <p:spPr>
          <a:xfrm>
            <a:off x="6236208" y="491947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50" name="Text 46"/>
          <p:cNvSpPr txBox="1"/>
          <p:nvPr/>
        </p:nvSpPr>
        <p:spPr>
          <a:xfrm>
            <a:off x="6784848" y="4937760"/>
            <a:ext cx="4370832" cy="365760"/>
          </a:xfrm>
          <a:prstGeom prst="rect">
            <a:avLst/>
          </a:prstGeom>
          <a:noFill/>
          <a:ln/>
        </p:spPr>
        <p:txBody>
          <a:bodyPr wrap="square" lIns="0" tIns="0" rIns="0" bIns="0" rtlCol="0" anchor="ctr">
            <a:normAutofit/>
          </a:bodyPr>
          <a:lstStyle/>
          <a:p>
            <a:pPr indent="0" marL="0">
              <a:buNone/>
            </a:pPr>
            <a:r>
              <a:rPr lang="en-US" sz="1050" b="1" dirty="0">
                <a:solidFill>
                  <a:srgbClr val="E8694A"/>
                </a:solidFill>
                <a:latin typeface="Arial" pitchFamily="34" charset="0"/>
                <a:ea typeface="Arial" pitchFamily="34" charset="-122"/>
                <a:cs typeface="Arial" pitchFamily="34" charset="-120"/>
              </a:rPr>
              <a:t>No shelter reachable by road: strong building on high ground; call 1070.</a:t>
            </a:r>
            <a:endParaRPr lang="en-US" sz="1050" dirty="0"/>
          </a:p>
        </p:txBody>
      </p:sp>
      <p:sp>
        <p:nvSpPr>
          <p:cNvPr id="51" name="Shape 47"/>
          <p:cNvSpPr/>
          <p:nvPr/>
        </p:nvSpPr>
        <p:spPr>
          <a:xfrm>
            <a:off x="6236208" y="5394960"/>
            <a:ext cx="4919472" cy="0"/>
          </a:xfrm>
          <a:prstGeom prst="line">
            <a:avLst/>
          </a:prstGeom>
          <a:noFill/>
          <a:ln w="9525">
            <a:solidFill>
              <a:srgbClr val="DCD5C5"/>
            </a:solidFill>
            <a:prstDash val="solid"/>
          </a:ln>
        </p:spPr>
      </p:sp>
      <p:sp>
        <p:nvSpPr>
          <p:cNvPr id="52" name="Text 48"/>
          <p:cNvSpPr txBox="1"/>
          <p:nvPr/>
        </p:nvSpPr>
        <p:spPr>
          <a:xfrm>
            <a:off x="6236208" y="5513832"/>
            <a:ext cx="3273552" cy="347472"/>
          </a:xfrm>
          <a:prstGeom prst="rect">
            <a:avLst/>
          </a:prstGeom>
          <a:noFill/>
          <a:ln/>
        </p:spPr>
        <p:txBody>
          <a:bodyPr wrap="square" lIns="0" tIns="0" rIns="0" bIns="0" rtlCol="0" anchor="ctr">
            <a:normAutofit/>
          </a:bodyPr>
          <a:lstStyle/>
          <a:p>
            <a:pPr indent="0" marL="0">
              <a:buNone/>
            </a:pPr>
            <a:r>
              <a:rPr lang="en-US" sz="1050" b="1" dirty="0">
                <a:solidFill>
                  <a:srgbClr val="12796D"/>
                </a:solidFill>
                <a:latin typeface="Arial" pitchFamily="34" charset="0"/>
                <a:ea typeface="Arial" pitchFamily="34" charset="-122"/>
                <a:cs typeface="Arial" pitchFamily="34" charset="-120"/>
              </a:rPr>
              <a:t>Issued by Collector &amp; DM, Puri (DDMA)</a:t>
            </a:r>
            <a:endParaRPr lang="en-US" sz="1050" dirty="0"/>
          </a:p>
        </p:txBody>
      </p:sp>
      <p:sp>
        <p:nvSpPr>
          <p:cNvPr id="53" name="Shape 49"/>
          <p:cNvSpPr/>
          <p:nvPr/>
        </p:nvSpPr>
        <p:spPr>
          <a:xfrm>
            <a:off x="9646920" y="5504688"/>
            <a:ext cx="1508760" cy="347472"/>
          </a:xfrm>
          <a:prstGeom prst="roundRect">
            <a:avLst>
              <a:gd name="adj" fmla="val 21053"/>
            </a:avLst>
          </a:prstGeom>
          <a:solidFill>
            <a:srgbClr val="E8694A"/>
          </a:solidFill>
          <a:ln/>
        </p:spPr>
      </p:sp>
      <p:sp>
        <p:nvSpPr>
          <p:cNvPr id="54" name="Text 50"/>
          <p:cNvSpPr txBox="1"/>
          <p:nvPr/>
        </p:nvSpPr>
        <p:spPr>
          <a:xfrm>
            <a:off x="9646920" y="5504688"/>
            <a:ext cx="1508760" cy="347472"/>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Arial" pitchFamily="34" charset="0"/>
                <a:ea typeface="Arial" pitchFamily="34" charset="-122"/>
                <a:cs typeface="Arial" pitchFamily="34" charset="-120"/>
              </a:rPr>
              <a:t>APPROVE → CAP</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03 — HOW IT WORKS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Every new bulletin re-runs the whole chain.</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Observed data, model estimates, AI interpretation and recommendation stay separate and labelled.</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Journey per PRD §8. Warning stages follow the PRD: T-72h Watch → T-48h Warning → T-24h Evacuation Order → T-6h Final Warning.</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4</a:t>
            </a:r>
            <a:endParaRPr lang="en-US" sz="650" dirty="0"/>
          </a:p>
        </p:txBody>
      </p:sp>
      <p:sp>
        <p:nvSpPr>
          <p:cNvPr id="15" name="Shape 11"/>
          <p:cNvSpPr/>
          <p:nvPr/>
        </p:nvSpPr>
        <p:spPr>
          <a:xfrm>
            <a:off x="594360" y="1892808"/>
            <a:ext cx="1336722" cy="1389888"/>
          </a:xfrm>
          <a:prstGeom prst="roundRect">
            <a:avLst>
              <a:gd name="adj" fmla="val 6841"/>
            </a:avLst>
          </a:prstGeom>
          <a:solidFill>
            <a:srgbClr val="FFFDF7"/>
          </a:solidFill>
          <a:ln w="9525">
            <a:solidFill>
              <a:srgbClr val="DCD5C5"/>
            </a:solidFill>
            <a:prstDash val="solid"/>
          </a:ln>
        </p:spPr>
      </p:sp>
      <p:sp>
        <p:nvSpPr>
          <p:cNvPr id="16" name="Shape 12"/>
          <p:cNvSpPr/>
          <p:nvPr/>
        </p:nvSpPr>
        <p:spPr>
          <a:xfrm>
            <a:off x="722376" y="2011680"/>
            <a:ext cx="393192" cy="393192"/>
          </a:xfrm>
          <a:prstGeom prst="ellipse">
            <a:avLst/>
          </a:prstGeom>
          <a:solidFill>
            <a:srgbClr val="12796D"/>
          </a:solidFill>
          <a:ln/>
        </p:spPr>
      </p:sp>
      <p:sp>
        <p:nvSpPr>
          <p:cNvPr id="17" name="Text 13"/>
          <p:cNvSpPr txBox="1"/>
          <p:nvPr/>
        </p:nvSpPr>
        <p:spPr>
          <a:xfrm>
            <a:off x="722376"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8" name="Text 14"/>
          <p:cNvSpPr txBox="1"/>
          <p:nvPr/>
        </p:nvSpPr>
        <p:spPr>
          <a:xfrm>
            <a:off x="640080"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PARSE</a:t>
            </a:r>
            <a:endParaRPr lang="en-US" sz="1100" dirty="0"/>
          </a:p>
        </p:txBody>
      </p:sp>
      <p:sp>
        <p:nvSpPr>
          <p:cNvPr id="19" name="Text 15"/>
          <p:cNvSpPr txBox="1"/>
          <p:nvPr/>
        </p:nvSpPr>
        <p:spPr>
          <a:xfrm>
            <a:off x="640080"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Gemini reads bulletin</a:t>
            </a:r>
            <a:endParaRPr lang="en-US" sz="850" dirty="0"/>
          </a:p>
        </p:txBody>
      </p:sp>
      <p:sp>
        <p:nvSpPr>
          <p:cNvPr id="20" name="Text 16"/>
          <p:cNvSpPr txBox="1"/>
          <p:nvPr/>
        </p:nvSpPr>
        <p:spPr>
          <a:xfrm>
            <a:off x="1931082"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1" name="Shape 17"/>
          <p:cNvSpPr/>
          <p:nvPr/>
        </p:nvSpPr>
        <p:spPr>
          <a:xfrm>
            <a:off x="2205402" y="1892808"/>
            <a:ext cx="1336722" cy="1389888"/>
          </a:xfrm>
          <a:prstGeom prst="roundRect">
            <a:avLst>
              <a:gd name="adj" fmla="val 6841"/>
            </a:avLst>
          </a:prstGeom>
          <a:solidFill>
            <a:srgbClr val="FFFDF7"/>
          </a:solidFill>
          <a:ln w="9525">
            <a:solidFill>
              <a:srgbClr val="DCD5C5"/>
            </a:solidFill>
            <a:prstDash val="solid"/>
          </a:ln>
        </p:spPr>
      </p:sp>
      <p:sp>
        <p:nvSpPr>
          <p:cNvPr id="22" name="Shape 18"/>
          <p:cNvSpPr/>
          <p:nvPr/>
        </p:nvSpPr>
        <p:spPr>
          <a:xfrm>
            <a:off x="2333418" y="2011680"/>
            <a:ext cx="393192" cy="393192"/>
          </a:xfrm>
          <a:prstGeom prst="ellipse">
            <a:avLst/>
          </a:prstGeom>
          <a:solidFill>
            <a:srgbClr val="12796D"/>
          </a:solidFill>
          <a:ln/>
        </p:spPr>
      </p:sp>
      <p:sp>
        <p:nvSpPr>
          <p:cNvPr id="23" name="Text 19"/>
          <p:cNvSpPr txBox="1"/>
          <p:nvPr/>
        </p:nvSpPr>
        <p:spPr>
          <a:xfrm>
            <a:off x="2333418"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4" name="Text 20"/>
          <p:cNvSpPr txBox="1"/>
          <p:nvPr/>
        </p:nvSpPr>
        <p:spPr>
          <a:xfrm>
            <a:off x="2251122"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VERIFY</a:t>
            </a:r>
            <a:endParaRPr lang="en-US" sz="1100" dirty="0"/>
          </a:p>
        </p:txBody>
      </p:sp>
      <p:sp>
        <p:nvSpPr>
          <p:cNvPr id="25" name="Text 21"/>
          <p:cNvSpPr txBox="1"/>
          <p:nvPr/>
        </p:nvSpPr>
        <p:spPr>
          <a:xfrm>
            <a:off x="2251122"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Officer checks track</a:t>
            </a:r>
            <a:endParaRPr lang="en-US" sz="850" dirty="0"/>
          </a:p>
        </p:txBody>
      </p:sp>
      <p:sp>
        <p:nvSpPr>
          <p:cNvPr id="26" name="Text 22"/>
          <p:cNvSpPr txBox="1"/>
          <p:nvPr/>
        </p:nvSpPr>
        <p:spPr>
          <a:xfrm>
            <a:off x="3542124"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7" name="Shape 23"/>
          <p:cNvSpPr/>
          <p:nvPr/>
        </p:nvSpPr>
        <p:spPr>
          <a:xfrm>
            <a:off x="3816444" y="1892808"/>
            <a:ext cx="1336722" cy="1389888"/>
          </a:xfrm>
          <a:prstGeom prst="roundRect">
            <a:avLst>
              <a:gd name="adj" fmla="val 6841"/>
            </a:avLst>
          </a:prstGeom>
          <a:solidFill>
            <a:srgbClr val="FFFDF7"/>
          </a:solidFill>
          <a:ln w="9525">
            <a:solidFill>
              <a:srgbClr val="DCD5C5"/>
            </a:solidFill>
            <a:prstDash val="solid"/>
          </a:ln>
        </p:spPr>
      </p:sp>
      <p:sp>
        <p:nvSpPr>
          <p:cNvPr id="28" name="Shape 24"/>
          <p:cNvSpPr/>
          <p:nvPr/>
        </p:nvSpPr>
        <p:spPr>
          <a:xfrm>
            <a:off x="3944460" y="2011680"/>
            <a:ext cx="393192" cy="393192"/>
          </a:xfrm>
          <a:prstGeom prst="ellipse">
            <a:avLst/>
          </a:prstGeom>
          <a:solidFill>
            <a:srgbClr val="12796D"/>
          </a:solidFill>
          <a:ln/>
        </p:spPr>
      </p:sp>
      <p:sp>
        <p:nvSpPr>
          <p:cNvPr id="29" name="Text 25"/>
          <p:cNvSpPr txBox="1"/>
          <p:nvPr/>
        </p:nvSpPr>
        <p:spPr>
          <a:xfrm>
            <a:off x="3944460"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0" name="Text 26"/>
          <p:cNvSpPr txBox="1"/>
          <p:nvPr/>
        </p:nvSpPr>
        <p:spPr>
          <a:xfrm>
            <a:off x="3862164"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HAZARDS</a:t>
            </a:r>
            <a:endParaRPr lang="en-US" sz="1100" dirty="0"/>
          </a:p>
        </p:txBody>
      </p:sp>
      <p:sp>
        <p:nvSpPr>
          <p:cNvPr id="31" name="Text 27"/>
          <p:cNvSpPr txBox="1"/>
          <p:nvPr/>
        </p:nvSpPr>
        <p:spPr>
          <a:xfrm>
            <a:off x="3862164"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Surge, flood, wind</a:t>
            </a:r>
            <a:endParaRPr lang="en-US" sz="850" dirty="0"/>
          </a:p>
        </p:txBody>
      </p:sp>
      <p:sp>
        <p:nvSpPr>
          <p:cNvPr id="32" name="Text 28"/>
          <p:cNvSpPr txBox="1"/>
          <p:nvPr/>
        </p:nvSpPr>
        <p:spPr>
          <a:xfrm>
            <a:off x="5153167"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3" name="Shape 29"/>
          <p:cNvSpPr/>
          <p:nvPr/>
        </p:nvSpPr>
        <p:spPr>
          <a:xfrm>
            <a:off x="5427487" y="1892808"/>
            <a:ext cx="1336722" cy="1389888"/>
          </a:xfrm>
          <a:prstGeom prst="roundRect">
            <a:avLst>
              <a:gd name="adj" fmla="val 6841"/>
            </a:avLst>
          </a:prstGeom>
          <a:solidFill>
            <a:srgbClr val="FFFDF7"/>
          </a:solidFill>
          <a:ln w="9525">
            <a:solidFill>
              <a:srgbClr val="DCD5C5"/>
            </a:solidFill>
            <a:prstDash val="solid"/>
          </a:ln>
        </p:spPr>
      </p:sp>
      <p:sp>
        <p:nvSpPr>
          <p:cNvPr id="34" name="Shape 30"/>
          <p:cNvSpPr/>
          <p:nvPr/>
        </p:nvSpPr>
        <p:spPr>
          <a:xfrm>
            <a:off x="5555503" y="2011680"/>
            <a:ext cx="393192" cy="393192"/>
          </a:xfrm>
          <a:prstGeom prst="ellipse">
            <a:avLst/>
          </a:prstGeom>
          <a:solidFill>
            <a:srgbClr val="12796D"/>
          </a:solidFill>
          <a:ln/>
        </p:spPr>
      </p:sp>
      <p:sp>
        <p:nvSpPr>
          <p:cNvPr id="35" name="Text 31"/>
          <p:cNvSpPr txBox="1"/>
          <p:nvPr/>
        </p:nvSpPr>
        <p:spPr>
          <a:xfrm>
            <a:off x="5555503"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6" name="Text 32"/>
          <p:cNvSpPr txBox="1"/>
          <p:nvPr/>
        </p:nvSpPr>
        <p:spPr>
          <a:xfrm>
            <a:off x="5473207"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EXPOSURE</a:t>
            </a:r>
            <a:endParaRPr lang="en-US" sz="1100" dirty="0"/>
          </a:p>
        </p:txBody>
      </p:sp>
      <p:sp>
        <p:nvSpPr>
          <p:cNvPr id="37" name="Text 33"/>
          <p:cNvSpPr txBox="1"/>
          <p:nvPr/>
        </p:nvSpPr>
        <p:spPr>
          <a:xfrm>
            <a:off x="5473207"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Risk + road cut-off</a:t>
            </a:r>
            <a:endParaRPr lang="en-US" sz="850" dirty="0"/>
          </a:p>
        </p:txBody>
      </p:sp>
      <p:sp>
        <p:nvSpPr>
          <p:cNvPr id="38" name="Text 34"/>
          <p:cNvSpPr txBox="1"/>
          <p:nvPr/>
        </p:nvSpPr>
        <p:spPr>
          <a:xfrm>
            <a:off x="6764209"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9" name="Shape 35"/>
          <p:cNvSpPr/>
          <p:nvPr/>
        </p:nvSpPr>
        <p:spPr>
          <a:xfrm>
            <a:off x="7038529" y="1892808"/>
            <a:ext cx="1336722" cy="1389888"/>
          </a:xfrm>
          <a:prstGeom prst="roundRect">
            <a:avLst>
              <a:gd name="adj" fmla="val 6841"/>
            </a:avLst>
          </a:prstGeom>
          <a:solidFill>
            <a:srgbClr val="DCEEE8"/>
          </a:solidFill>
          <a:ln w="9525">
            <a:solidFill>
              <a:srgbClr val="12796D"/>
            </a:solidFill>
            <a:prstDash val="solid"/>
          </a:ln>
        </p:spPr>
      </p:sp>
      <p:sp>
        <p:nvSpPr>
          <p:cNvPr id="40" name="Shape 36"/>
          <p:cNvSpPr/>
          <p:nvPr/>
        </p:nvSpPr>
        <p:spPr>
          <a:xfrm>
            <a:off x="7166545" y="2011680"/>
            <a:ext cx="393192" cy="393192"/>
          </a:xfrm>
          <a:prstGeom prst="ellipse">
            <a:avLst/>
          </a:prstGeom>
          <a:solidFill>
            <a:srgbClr val="12796D"/>
          </a:solidFill>
          <a:ln/>
        </p:spPr>
      </p:sp>
      <p:sp>
        <p:nvSpPr>
          <p:cNvPr id="41" name="Text 37"/>
          <p:cNvSpPr txBox="1"/>
          <p:nvPr/>
        </p:nvSpPr>
        <p:spPr>
          <a:xfrm>
            <a:off x="7166545"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42" name="Text 38"/>
          <p:cNvSpPr txBox="1"/>
          <p:nvPr/>
        </p:nvSpPr>
        <p:spPr>
          <a:xfrm>
            <a:off x="7084249"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SITREP</a:t>
            </a:r>
            <a:endParaRPr lang="en-US" sz="1100" dirty="0"/>
          </a:p>
        </p:txBody>
      </p:sp>
      <p:sp>
        <p:nvSpPr>
          <p:cNvPr id="43" name="Text 39"/>
          <p:cNvSpPr txBox="1"/>
          <p:nvPr/>
        </p:nvSpPr>
        <p:spPr>
          <a:xfrm>
            <a:off x="7084249"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Multimodal Gemini</a:t>
            </a:r>
            <a:endParaRPr lang="en-US" sz="850" dirty="0"/>
          </a:p>
        </p:txBody>
      </p:sp>
      <p:sp>
        <p:nvSpPr>
          <p:cNvPr id="44" name="Text 40"/>
          <p:cNvSpPr txBox="1"/>
          <p:nvPr/>
        </p:nvSpPr>
        <p:spPr>
          <a:xfrm>
            <a:off x="8375251"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45" name="Shape 41"/>
          <p:cNvSpPr/>
          <p:nvPr/>
        </p:nvSpPr>
        <p:spPr>
          <a:xfrm>
            <a:off x="8649571" y="1892808"/>
            <a:ext cx="1336722" cy="1389888"/>
          </a:xfrm>
          <a:prstGeom prst="roundRect">
            <a:avLst>
              <a:gd name="adj" fmla="val 6841"/>
            </a:avLst>
          </a:prstGeom>
          <a:solidFill>
            <a:srgbClr val="FFFDF7"/>
          </a:solidFill>
          <a:ln w="9525">
            <a:solidFill>
              <a:srgbClr val="DCD5C5"/>
            </a:solidFill>
            <a:prstDash val="solid"/>
          </a:ln>
        </p:spPr>
      </p:sp>
      <p:sp>
        <p:nvSpPr>
          <p:cNvPr id="46" name="Shape 42"/>
          <p:cNvSpPr/>
          <p:nvPr/>
        </p:nvSpPr>
        <p:spPr>
          <a:xfrm>
            <a:off x="8777587" y="2011680"/>
            <a:ext cx="393192" cy="393192"/>
          </a:xfrm>
          <a:prstGeom prst="ellipse">
            <a:avLst/>
          </a:prstGeom>
          <a:solidFill>
            <a:srgbClr val="12796D"/>
          </a:solidFill>
          <a:ln/>
        </p:spPr>
      </p:sp>
      <p:sp>
        <p:nvSpPr>
          <p:cNvPr id="47" name="Text 43"/>
          <p:cNvSpPr txBox="1"/>
          <p:nvPr/>
        </p:nvSpPr>
        <p:spPr>
          <a:xfrm>
            <a:off x="8777587"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48" name="Text 44"/>
          <p:cNvSpPr txBox="1"/>
          <p:nvPr/>
        </p:nvSpPr>
        <p:spPr>
          <a:xfrm>
            <a:off x="8695291"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APPROVE</a:t>
            </a:r>
            <a:endParaRPr lang="en-US" sz="1100" dirty="0"/>
          </a:p>
        </p:txBody>
      </p:sp>
      <p:sp>
        <p:nvSpPr>
          <p:cNvPr id="49" name="Text 45"/>
          <p:cNvSpPr txBox="1"/>
          <p:nvPr/>
        </p:nvSpPr>
        <p:spPr>
          <a:xfrm>
            <a:off x="8695291"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Advisory → CAP 1.2</a:t>
            </a:r>
            <a:endParaRPr lang="en-US" sz="850" dirty="0"/>
          </a:p>
        </p:txBody>
      </p:sp>
      <p:sp>
        <p:nvSpPr>
          <p:cNvPr id="50" name="Text 46"/>
          <p:cNvSpPr txBox="1"/>
          <p:nvPr/>
        </p:nvSpPr>
        <p:spPr>
          <a:xfrm>
            <a:off x="9986293"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51" name="Shape 47"/>
          <p:cNvSpPr/>
          <p:nvPr/>
        </p:nvSpPr>
        <p:spPr>
          <a:xfrm>
            <a:off x="10260613" y="1892808"/>
            <a:ext cx="1336722" cy="1389888"/>
          </a:xfrm>
          <a:prstGeom prst="roundRect">
            <a:avLst>
              <a:gd name="adj" fmla="val 6841"/>
            </a:avLst>
          </a:prstGeom>
          <a:solidFill>
            <a:srgbClr val="FFFDF7"/>
          </a:solidFill>
          <a:ln w="9525">
            <a:solidFill>
              <a:srgbClr val="DCD5C5"/>
            </a:solidFill>
            <a:prstDash val="solid"/>
          </a:ln>
        </p:spPr>
      </p:sp>
      <p:sp>
        <p:nvSpPr>
          <p:cNvPr id="52" name="Shape 48"/>
          <p:cNvSpPr/>
          <p:nvPr/>
        </p:nvSpPr>
        <p:spPr>
          <a:xfrm>
            <a:off x="10388629" y="2011680"/>
            <a:ext cx="393192" cy="393192"/>
          </a:xfrm>
          <a:prstGeom prst="ellipse">
            <a:avLst/>
          </a:prstGeom>
          <a:solidFill>
            <a:srgbClr val="E8694A"/>
          </a:solidFill>
          <a:ln/>
        </p:spPr>
      </p:sp>
      <p:sp>
        <p:nvSpPr>
          <p:cNvPr id="53" name="Text 49"/>
          <p:cNvSpPr txBox="1"/>
          <p:nvPr/>
        </p:nvSpPr>
        <p:spPr>
          <a:xfrm>
            <a:off x="10388629"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54" name="Text 50"/>
          <p:cNvSpPr txBox="1"/>
          <p:nvPr/>
        </p:nvSpPr>
        <p:spPr>
          <a:xfrm>
            <a:off x="10306333"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DISPATCH</a:t>
            </a:r>
            <a:endParaRPr lang="en-US" sz="1100" dirty="0"/>
          </a:p>
        </p:txBody>
      </p:sp>
      <p:sp>
        <p:nvSpPr>
          <p:cNvPr id="55" name="Text 51"/>
          <p:cNvSpPr txBox="1"/>
          <p:nvPr/>
        </p:nvSpPr>
        <p:spPr>
          <a:xfrm>
            <a:off x="10306333"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Sandbox + audit</a:t>
            </a:r>
            <a:endParaRPr lang="en-US" sz="850" dirty="0"/>
          </a:p>
        </p:txBody>
      </p:sp>
      <p:sp>
        <p:nvSpPr>
          <p:cNvPr id="56" name="Shape 52"/>
          <p:cNvSpPr/>
          <p:nvPr/>
        </p:nvSpPr>
        <p:spPr>
          <a:xfrm>
            <a:off x="640080" y="3886200"/>
            <a:ext cx="3429000" cy="1417320"/>
          </a:xfrm>
          <a:prstGeom prst="roundRect">
            <a:avLst>
              <a:gd name="adj" fmla="val 5161"/>
            </a:avLst>
          </a:prstGeom>
          <a:solidFill>
            <a:srgbClr val="1B3149"/>
          </a:solidFill>
          <a:ln/>
        </p:spPr>
      </p:sp>
      <p:sp>
        <p:nvSpPr>
          <p:cNvPr id="57" name="Shape 53"/>
          <p:cNvSpPr/>
          <p:nvPr/>
        </p:nvSpPr>
        <p:spPr>
          <a:xfrm>
            <a:off x="868680" y="4114800"/>
            <a:ext cx="1417320" cy="310896"/>
          </a:xfrm>
          <a:prstGeom prst="roundRect">
            <a:avLst>
              <a:gd name="adj" fmla="val 23529"/>
            </a:avLst>
          </a:prstGeom>
          <a:solidFill>
            <a:srgbClr val="2A4A63"/>
          </a:solidFill>
          <a:ln/>
        </p:spPr>
      </p:sp>
      <p:sp>
        <p:nvSpPr>
          <p:cNvPr id="58" name="Text 54"/>
          <p:cNvSpPr txBox="1"/>
          <p:nvPr/>
        </p:nvSpPr>
        <p:spPr>
          <a:xfrm>
            <a:off x="86868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B9C4CF"/>
                </a:solidFill>
                <a:latin typeface="Arial" pitchFamily="34" charset="0"/>
                <a:ea typeface="Arial" pitchFamily="34" charset="-122"/>
                <a:cs typeface="Arial" pitchFamily="34" charset="-120"/>
              </a:rPr>
              <a:t>AUTO • PER BULLETIN</a:t>
            </a:r>
            <a:endParaRPr lang="en-US" sz="700" dirty="0"/>
          </a:p>
        </p:txBody>
      </p:sp>
      <p:sp>
        <p:nvSpPr>
          <p:cNvPr id="59" name="Text 55"/>
          <p:cNvSpPr txBox="1"/>
          <p:nvPr/>
        </p:nvSpPr>
        <p:spPr>
          <a:xfrm>
            <a:off x="86868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Parse, 9-track set, hazards, Village Risk, cut-offs and sitrep draft re-run on each update.</a:t>
            </a:r>
            <a:endParaRPr lang="en-US" sz="1100" dirty="0"/>
          </a:p>
        </p:txBody>
      </p:sp>
      <p:sp>
        <p:nvSpPr>
          <p:cNvPr id="60" name="Shape 56"/>
          <p:cNvSpPr/>
          <p:nvPr/>
        </p:nvSpPr>
        <p:spPr>
          <a:xfrm>
            <a:off x="4343400" y="3886200"/>
            <a:ext cx="3429000" cy="1417320"/>
          </a:xfrm>
          <a:prstGeom prst="roundRect">
            <a:avLst>
              <a:gd name="adj" fmla="val 5161"/>
            </a:avLst>
          </a:prstGeom>
          <a:solidFill>
            <a:srgbClr val="DCEEE8"/>
          </a:solidFill>
          <a:ln w="9525">
            <a:solidFill>
              <a:srgbClr val="12796D"/>
            </a:solidFill>
            <a:prstDash val="solid"/>
          </a:ln>
        </p:spPr>
      </p:sp>
      <p:sp>
        <p:nvSpPr>
          <p:cNvPr id="61" name="Shape 57"/>
          <p:cNvSpPr/>
          <p:nvPr/>
        </p:nvSpPr>
        <p:spPr>
          <a:xfrm>
            <a:off x="4572000" y="4114800"/>
            <a:ext cx="1417320" cy="310896"/>
          </a:xfrm>
          <a:prstGeom prst="roundRect">
            <a:avLst>
              <a:gd name="adj" fmla="val 23529"/>
            </a:avLst>
          </a:prstGeom>
          <a:solidFill>
            <a:srgbClr val="12796D"/>
          </a:solidFill>
          <a:ln/>
        </p:spPr>
      </p:sp>
      <p:sp>
        <p:nvSpPr>
          <p:cNvPr id="62" name="Text 58"/>
          <p:cNvSpPr txBox="1"/>
          <p:nvPr/>
        </p:nvSpPr>
        <p:spPr>
          <a:xfrm>
            <a:off x="457200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OFFICER • DECIDES</a:t>
            </a:r>
            <a:endParaRPr lang="en-US" sz="700" dirty="0"/>
          </a:p>
        </p:txBody>
      </p:sp>
      <p:sp>
        <p:nvSpPr>
          <p:cNvPr id="63" name="Text 59"/>
          <p:cNvSpPr txBox="1"/>
          <p:nvPr/>
        </p:nvSpPr>
        <p:spPr>
          <a:xfrm>
            <a:off x="457200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Verifies the track, reviews translations, approves or edits each advisory before dispatch.</a:t>
            </a:r>
            <a:endParaRPr lang="en-US" sz="1100" dirty="0"/>
          </a:p>
        </p:txBody>
      </p:sp>
      <p:sp>
        <p:nvSpPr>
          <p:cNvPr id="64" name="Shape 60"/>
          <p:cNvSpPr/>
          <p:nvPr/>
        </p:nvSpPr>
        <p:spPr>
          <a:xfrm>
            <a:off x="8046720" y="3886200"/>
            <a:ext cx="3429000" cy="1417320"/>
          </a:xfrm>
          <a:prstGeom prst="roundRect">
            <a:avLst>
              <a:gd name="adj" fmla="val 5161"/>
            </a:avLst>
          </a:prstGeom>
          <a:solidFill>
            <a:srgbClr val="FBE6DE"/>
          </a:solidFill>
          <a:ln w="9525">
            <a:solidFill>
              <a:srgbClr val="E8694A"/>
            </a:solidFill>
            <a:prstDash val="solid"/>
          </a:ln>
        </p:spPr>
      </p:sp>
      <p:sp>
        <p:nvSpPr>
          <p:cNvPr id="65" name="Shape 61"/>
          <p:cNvSpPr/>
          <p:nvPr/>
        </p:nvSpPr>
        <p:spPr>
          <a:xfrm>
            <a:off x="8275320" y="4114800"/>
            <a:ext cx="1417320" cy="310896"/>
          </a:xfrm>
          <a:prstGeom prst="roundRect">
            <a:avLst>
              <a:gd name="adj" fmla="val 23529"/>
            </a:avLst>
          </a:prstGeom>
          <a:solidFill>
            <a:srgbClr val="E8694A"/>
          </a:solidFill>
          <a:ln/>
        </p:spPr>
      </p:sp>
      <p:sp>
        <p:nvSpPr>
          <p:cNvPr id="66" name="Text 62"/>
          <p:cNvSpPr txBox="1"/>
          <p:nvPr/>
        </p:nvSpPr>
        <p:spPr>
          <a:xfrm>
            <a:off x="827532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STATE EOC • COMPARES</a:t>
            </a:r>
            <a:endParaRPr lang="en-US" sz="700" dirty="0"/>
          </a:p>
        </p:txBody>
      </p:sp>
      <p:sp>
        <p:nvSpPr>
          <p:cNvPr id="67" name="Text 63"/>
          <p:cNvSpPr txBox="1"/>
          <p:nvPr/>
        </p:nvSpPr>
        <p:spPr>
          <a:xfrm>
            <a:off x="827532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Sees districts side by side, advisory logs and parametric trigger estimates.</a:t>
            </a:r>
            <a:endParaRPr lang="en-US" sz="1100" dirty="0"/>
          </a:p>
        </p:txBody>
      </p:sp>
      <p:sp>
        <p:nvSpPr>
          <p:cNvPr id="68" name="Text 64"/>
          <p:cNvSpPr txBox="1"/>
          <p:nvPr/>
        </p:nvSpPr>
        <p:spPr>
          <a:xfrm>
            <a:off x="658368" y="5760720"/>
            <a:ext cx="1828800" cy="182880"/>
          </a:xfrm>
          <a:prstGeom prst="rect">
            <a:avLst/>
          </a:prstGeom>
          <a:noFill/>
          <a:ln/>
        </p:spPr>
        <p:txBody>
          <a:bodyPr wrap="square" lIns="0" tIns="0" rIns="0" bIns="0" rtlCol="0" anchor="t"/>
          <a:lstStyle/>
          <a:p>
            <a:pPr indent="0" marL="0">
              <a:buNone/>
            </a:pPr>
            <a:r>
              <a:rPr lang="en-US" sz="800" b="1" spc="100" kern="0" dirty="0">
                <a:solidFill>
                  <a:srgbClr val="12796D"/>
                </a:solidFill>
                <a:latin typeface="Arial" pitchFamily="34" charset="0"/>
                <a:ea typeface="Arial" pitchFamily="34" charset="-122"/>
                <a:cs typeface="Arial" pitchFamily="34" charset="-120"/>
              </a:rPr>
              <a:t>HUMAN GATE</a:t>
            </a:r>
            <a:endParaRPr lang="en-US" sz="800" dirty="0"/>
          </a:p>
        </p:txBody>
      </p:sp>
      <p:sp>
        <p:nvSpPr>
          <p:cNvPr id="69" name="Text 65"/>
          <p:cNvSpPr txBox="1"/>
          <p:nvPr/>
        </p:nvSpPr>
        <p:spPr>
          <a:xfrm>
            <a:off x="2560320" y="5705856"/>
            <a:ext cx="8961120" cy="32004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No advisory is dispatched without the district officer's approval; parametric numbers are planning estimates.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04 — USERS &amp; CONTEXT</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Built for the district officer, useful to the state.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Two app roles only. Everyone else receives role-specific actions or public advisories.</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Roles from PRD §7. Screenshot: live sitrep on the Fani replay (gemini-3.7-flash, sitrep_v1); figures are from sample data.</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5</a:t>
            </a:r>
            <a:endParaRPr lang="en-US" sz="650" dirty="0"/>
          </a:p>
        </p:txBody>
      </p:sp>
      <p:pic>
        <p:nvPicPr>
          <p:cNvPr id="15" name="Image 1" descr="/Users/pavan/Documents/Code/Build_with_AI/cyclone-risk-network/docs/pitch/assets/users-sitrep-actions.jpg">    </p:cNvPr>
          <p:cNvPicPr>
            <a:picLocks noChangeAspect="1"/>
          </p:cNvPicPr>
          <p:nvPr/>
        </p:nvPicPr>
        <p:blipFill>
          <a:blip r:embed="rId2"/>
          <a:srcRect l="0" r="0" t="0" b="0"/>
          <a:stretch/>
        </p:blipFill>
        <p:spPr>
          <a:xfrm>
            <a:off x="621792" y="1709928"/>
            <a:ext cx="4599432" cy="3017520"/>
          </a:xfrm>
          <a:prstGeom prst="rect">
            <a:avLst/>
          </a:prstGeom>
        </p:spPr>
      </p:pic>
      <p:sp>
        <p:nvSpPr>
          <p:cNvPr id="16" name="Shape 11"/>
          <p:cNvSpPr/>
          <p:nvPr/>
        </p:nvSpPr>
        <p:spPr>
          <a:xfrm>
            <a:off x="621792" y="4727448"/>
            <a:ext cx="4599432" cy="1243584"/>
          </a:xfrm>
          <a:prstGeom prst="rect">
            <a:avLst/>
          </a:prstGeom>
          <a:solidFill>
            <a:srgbClr val="1B3149"/>
          </a:solidFill>
          <a:ln/>
        </p:spPr>
      </p:sp>
      <p:sp>
        <p:nvSpPr>
          <p:cNvPr id="17" name="Text 12"/>
          <p:cNvSpPr txBox="1"/>
          <p:nvPr/>
        </p:nvSpPr>
        <p:spPr>
          <a:xfrm>
            <a:off x="896112" y="5020056"/>
            <a:ext cx="4050792" cy="182880"/>
          </a:xfrm>
          <a:prstGeom prst="rect">
            <a:avLst/>
          </a:prstGeom>
          <a:noFill/>
          <a:ln/>
        </p:spPr>
        <p:txBody>
          <a:bodyPr wrap="square" lIns="0" tIns="0" rIns="0" bIns="0" rtlCol="0" anchor="t"/>
          <a:lstStyle/>
          <a:p>
            <a:pPr indent="0" marL="0">
              <a:buNone/>
            </a:pPr>
            <a:r>
              <a:rPr lang="en-US" sz="1000" b="1" spc="100" kern="0" dirty="0">
                <a:solidFill>
                  <a:srgbClr val="9ED8CC"/>
                </a:solidFill>
                <a:latin typeface="Arial" pitchFamily="34" charset="0"/>
                <a:ea typeface="Arial" pitchFamily="34" charset="-122"/>
                <a:cs typeface="Arial" pitchFamily="34" charset="-120"/>
              </a:rPr>
              <a:t>DISTRICT OFFICER  •  PRIMARY USER</a:t>
            </a:r>
            <a:endParaRPr lang="en-US" sz="1000" dirty="0"/>
          </a:p>
        </p:txBody>
      </p:sp>
      <p:sp>
        <p:nvSpPr>
          <p:cNvPr id="18" name="Text 13"/>
          <p:cNvSpPr txBox="1"/>
          <p:nvPr/>
        </p:nvSpPr>
        <p:spPr>
          <a:xfrm>
            <a:off x="896112" y="5321808"/>
            <a:ext cx="4050792" cy="457200"/>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Gemini sitrep: actions by role, with deadlines and evidence</a:t>
            </a:r>
            <a:endParaRPr lang="en-US" sz="1600" dirty="0"/>
          </a:p>
        </p:txBody>
      </p:sp>
      <p:sp>
        <p:nvSpPr>
          <p:cNvPr id="19" name="Shape 14"/>
          <p:cNvSpPr/>
          <p:nvPr/>
        </p:nvSpPr>
        <p:spPr>
          <a:xfrm>
            <a:off x="5550408" y="1719072"/>
            <a:ext cx="5961888" cy="795528"/>
          </a:xfrm>
          <a:prstGeom prst="roundRect">
            <a:avLst>
              <a:gd name="adj" fmla="val 11494"/>
            </a:avLst>
          </a:prstGeom>
          <a:solidFill>
            <a:srgbClr val="FFFDF7"/>
          </a:solidFill>
          <a:ln w="9525">
            <a:solidFill>
              <a:srgbClr val="DCD5C5"/>
            </a:solidFill>
            <a:prstDash val="solid"/>
          </a:ln>
        </p:spPr>
      </p:sp>
      <p:sp>
        <p:nvSpPr>
          <p:cNvPr id="20" name="Shape 15"/>
          <p:cNvSpPr/>
          <p:nvPr/>
        </p:nvSpPr>
        <p:spPr>
          <a:xfrm>
            <a:off x="5742432" y="1911096"/>
            <a:ext cx="393192" cy="393192"/>
          </a:xfrm>
          <a:prstGeom prst="ellipse">
            <a:avLst/>
          </a:prstGeom>
          <a:solidFill>
            <a:srgbClr val="12796D"/>
          </a:solidFill>
          <a:ln/>
        </p:spPr>
      </p:sp>
      <p:sp>
        <p:nvSpPr>
          <p:cNvPr id="21" name="Text 16"/>
          <p:cNvSpPr txBox="1"/>
          <p:nvPr/>
        </p:nvSpPr>
        <p:spPr>
          <a:xfrm>
            <a:off x="5742432" y="1911096"/>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22" name="Text 17"/>
          <p:cNvSpPr txBox="1"/>
          <p:nvPr/>
        </p:nvSpPr>
        <p:spPr>
          <a:xfrm>
            <a:off x="6263640" y="1874520"/>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STATE EOC OFFICER</a:t>
            </a:r>
            <a:endParaRPr lang="en-US" sz="1100" dirty="0"/>
          </a:p>
        </p:txBody>
      </p:sp>
      <p:sp>
        <p:nvSpPr>
          <p:cNvPr id="23" name="Text 18"/>
          <p:cNvSpPr txBox="1"/>
          <p:nvPr/>
        </p:nvSpPr>
        <p:spPr>
          <a:xfrm>
            <a:off x="6263640" y="2148840"/>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Secondary user</a:t>
            </a:r>
            <a:endParaRPr lang="en-US" sz="850" dirty="0"/>
          </a:p>
        </p:txBody>
      </p:sp>
      <p:sp>
        <p:nvSpPr>
          <p:cNvPr id="24" name="Text 19"/>
          <p:cNvSpPr txBox="1"/>
          <p:nvPr/>
        </p:nvSpPr>
        <p:spPr>
          <a:xfrm>
            <a:off x="7818120" y="1874520"/>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Compares districts, reviews advisories, sees parametric triggers.</a:t>
            </a:r>
            <a:endParaRPr lang="en-US" sz="1000" dirty="0"/>
          </a:p>
        </p:txBody>
      </p:sp>
      <p:sp>
        <p:nvSpPr>
          <p:cNvPr id="25" name="Shape 20"/>
          <p:cNvSpPr/>
          <p:nvPr/>
        </p:nvSpPr>
        <p:spPr>
          <a:xfrm>
            <a:off x="5550408" y="2688336"/>
            <a:ext cx="5961888" cy="795528"/>
          </a:xfrm>
          <a:prstGeom prst="roundRect">
            <a:avLst>
              <a:gd name="adj" fmla="val 11494"/>
            </a:avLst>
          </a:prstGeom>
          <a:solidFill>
            <a:srgbClr val="DCEEE8"/>
          </a:solidFill>
          <a:ln w="9525">
            <a:solidFill>
              <a:srgbClr val="12796D"/>
            </a:solidFill>
            <a:prstDash val="solid"/>
          </a:ln>
        </p:spPr>
      </p:sp>
      <p:sp>
        <p:nvSpPr>
          <p:cNvPr id="26" name="Shape 21"/>
          <p:cNvSpPr/>
          <p:nvPr/>
        </p:nvSpPr>
        <p:spPr>
          <a:xfrm>
            <a:off x="5742432" y="2880360"/>
            <a:ext cx="393192" cy="393192"/>
          </a:xfrm>
          <a:prstGeom prst="ellipse">
            <a:avLst/>
          </a:prstGeom>
          <a:solidFill>
            <a:srgbClr val="12796D"/>
          </a:solidFill>
          <a:ln/>
        </p:spPr>
      </p:sp>
      <p:sp>
        <p:nvSpPr>
          <p:cNvPr id="27" name="Text 22"/>
          <p:cNvSpPr txBox="1"/>
          <p:nvPr/>
        </p:nvSpPr>
        <p:spPr>
          <a:xfrm>
            <a:off x="5742432" y="288036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28" name="Text 23"/>
          <p:cNvSpPr txBox="1"/>
          <p:nvPr/>
        </p:nvSpPr>
        <p:spPr>
          <a:xfrm>
            <a:off x="6263640" y="2843784"/>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COLLECTOR &amp; DM</a:t>
            </a:r>
            <a:endParaRPr lang="en-US" sz="1100" dirty="0"/>
          </a:p>
        </p:txBody>
      </p:sp>
      <p:sp>
        <p:nvSpPr>
          <p:cNvPr id="29" name="Text 24"/>
          <p:cNvSpPr txBox="1"/>
          <p:nvPr/>
        </p:nvSpPr>
        <p:spPr>
          <a:xfrm>
            <a:off x="6263640" y="3118104"/>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Issuing authority</a:t>
            </a:r>
            <a:endParaRPr lang="en-US" sz="850" dirty="0"/>
          </a:p>
        </p:txBody>
      </p:sp>
      <p:sp>
        <p:nvSpPr>
          <p:cNvPr id="30" name="Text 25"/>
          <p:cNvSpPr txBox="1"/>
          <p:nvPr/>
        </p:nvSpPr>
        <p:spPr>
          <a:xfrm>
            <a:off x="7818120" y="2843784"/>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Named on every advisory; approval runs through the DDMA.</a:t>
            </a:r>
            <a:endParaRPr lang="en-US" sz="1000" dirty="0"/>
          </a:p>
        </p:txBody>
      </p:sp>
      <p:sp>
        <p:nvSpPr>
          <p:cNvPr id="31" name="Shape 26"/>
          <p:cNvSpPr/>
          <p:nvPr/>
        </p:nvSpPr>
        <p:spPr>
          <a:xfrm>
            <a:off x="5550408" y="3657600"/>
            <a:ext cx="5961888" cy="795528"/>
          </a:xfrm>
          <a:prstGeom prst="roundRect">
            <a:avLst>
              <a:gd name="adj" fmla="val 11494"/>
            </a:avLst>
          </a:prstGeom>
          <a:solidFill>
            <a:srgbClr val="FFFDF7"/>
          </a:solidFill>
          <a:ln w="9525">
            <a:solidFill>
              <a:srgbClr val="DCD5C5"/>
            </a:solidFill>
            <a:prstDash val="solid"/>
          </a:ln>
        </p:spPr>
      </p:sp>
      <p:sp>
        <p:nvSpPr>
          <p:cNvPr id="32" name="Shape 27"/>
          <p:cNvSpPr/>
          <p:nvPr/>
        </p:nvSpPr>
        <p:spPr>
          <a:xfrm>
            <a:off x="5742432" y="3849624"/>
            <a:ext cx="393192" cy="393192"/>
          </a:xfrm>
          <a:prstGeom prst="ellipse">
            <a:avLst/>
          </a:prstGeom>
          <a:solidFill>
            <a:srgbClr val="12796D"/>
          </a:solidFill>
          <a:ln/>
        </p:spPr>
      </p:sp>
      <p:sp>
        <p:nvSpPr>
          <p:cNvPr id="33" name="Text 28"/>
          <p:cNvSpPr txBox="1"/>
          <p:nvPr/>
        </p:nvSpPr>
        <p:spPr>
          <a:xfrm>
            <a:off x="5742432" y="3849624"/>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34" name="Text 29"/>
          <p:cNvSpPr txBox="1"/>
          <p:nvPr/>
        </p:nvSpPr>
        <p:spPr>
          <a:xfrm>
            <a:off x="6263640" y="3813048"/>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LINE DEPARTMENTS</a:t>
            </a:r>
            <a:endParaRPr lang="en-US" sz="1100" dirty="0"/>
          </a:p>
        </p:txBody>
      </p:sp>
      <p:sp>
        <p:nvSpPr>
          <p:cNvPr id="35" name="Text 30"/>
          <p:cNvSpPr txBox="1"/>
          <p:nvPr/>
        </p:nvSpPr>
        <p:spPr>
          <a:xfrm>
            <a:off x="6263640" y="4087368"/>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Action owners</a:t>
            </a:r>
            <a:endParaRPr lang="en-US" sz="850" dirty="0"/>
          </a:p>
        </p:txBody>
      </p:sp>
      <p:sp>
        <p:nvSpPr>
          <p:cNvPr id="36" name="Text 31"/>
          <p:cNvSpPr txBox="1"/>
          <p:nvPr/>
        </p:nvSpPr>
        <p:spPr>
          <a:xfrm>
            <a:off x="7818120" y="3813048"/>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Power, health, police, fisheries get tasks with deadlines, e.g. power by T-8h.</a:t>
            </a:r>
            <a:endParaRPr lang="en-US" sz="1000" dirty="0"/>
          </a:p>
        </p:txBody>
      </p:sp>
      <p:sp>
        <p:nvSpPr>
          <p:cNvPr id="37" name="Shape 32"/>
          <p:cNvSpPr/>
          <p:nvPr/>
        </p:nvSpPr>
        <p:spPr>
          <a:xfrm>
            <a:off x="5550408" y="4626864"/>
            <a:ext cx="5961888" cy="795528"/>
          </a:xfrm>
          <a:prstGeom prst="roundRect">
            <a:avLst>
              <a:gd name="adj" fmla="val 11494"/>
            </a:avLst>
          </a:prstGeom>
          <a:solidFill>
            <a:srgbClr val="FFFDF7"/>
          </a:solidFill>
          <a:ln w="9525">
            <a:solidFill>
              <a:srgbClr val="DCD5C5"/>
            </a:solidFill>
            <a:prstDash val="solid"/>
          </a:ln>
        </p:spPr>
      </p:sp>
      <p:sp>
        <p:nvSpPr>
          <p:cNvPr id="38" name="Shape 33"/>
          <p:cNvSpPr/>
          <p:nvPr/>
        </p:nvSpPr>
        <p:spPr>
          <a:xfrm>
            <a:off x="5742432" y="4818888"/>
            <a:ext cx="393192" cy="393192"/>
          </a:xfrm>
          <a:prstGeom prst="ellipse">
            <a:avLst/>
          </a:prstGeom>
          <a:solidFill>
            <a:srgbClr val="E8694A"/>
          </a:solidFill>
          <a:ln/>
        </p:spPr>
      </p:sp>
      <p:sp>
        <p:nvSpPr>
          <p:cNvPr id="39" name="Text 34"/>
          <p:cNvSpPr txBox="1"/>
          <p:nvPr/>
        </p:nvSpPr>
        <p:spPr>
          <a:xfrm>
            <a:off x="5742432" y="4818888"/>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40" name="Text 35"/>
          <p:cNvSpPr txBox="1"/>
          <p:nvPr/>
        </p:nvSpPr>
        <p:spPr>
          <a:xfrm>
            <a:off x="6263640" y="4782312"/>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COASTAL PUBLIC</a:t>
            </a:r>
            <a:endParaRPr lang="en-US" sz="1100" dirty="0"/>
          </a:p>
        </p:txBody>
      </p:sp>
      <p:sp>
        <p:nvSpPr>
          <p:cNvPr id="41" name="Text 36"/>
          <p:cNvSpPr txBox="1"/>
          <p:nvPr/>
        </p:nvSpPr>
        <p:spPr>
          <a:xfrm>
            <a:off x="6263640" y="5056632"/>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Recipients</a:t>
            </a:r>
            <a:endParaRPr lang="en-US" sz="850" dirty="0"/>
          </a:p>
        </p:txBody>
      </p:sp>
      <p:sp>
        <p:nvSpPr>
          <p:cNvPr id="42" name="Text 37"/>
          <p:cNvSpPr txBox="1"/>
          <p:nvPr/>
        </p:nvSpPr>
        <p:spPr>
          <a:xfrm>
            <a:off x="7818120" y="4782312"/>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Fishers and villagers get warnings in Odia, Bengali or English; no app login.</a:t>
            </a:r>
            <a:endParaRPr lang="en-US" sz="1000" dirty="0"/>
          </a:p>
        </p:txBody>
      </p:sp>
      <p:sp>
        <p:nvSpPr>
          <p:cNvPr id="43" name="Text 38"/>
          <p:cNvSpPr txBox="1"/>
          <p:nvPr/>
        </p:nvSpPr>
        <p:spPr>
          <a:xfrm>
            <a:off x="5577840" y="5596128"/>
            <a:ext cx="3657600" cy="146304"/>
          </a:xfrm>
          <a:prstGeom prst="rect">
            <a:avLst/>
          </a:prstGeom>
          <a:noFill/>
          <a:ln/>
        </p:spPr>
        <p:txBody>
          <a:bodyPr wrap="square" lIns="0" tIns="0" rIns="0" bIns="0" rtlCol="0" anchor="t"/>
          <a:lstStyle/>
          <a:p>
            <a:pPr indent="0" marL="0">
              <a:buNone/>
            </a:pPr>
            <a:r>
              <a:rPr lang="en-US" sz="800" b="1" dirty="0">
                <a:solidFill>
                  <a:srgbClr val="12796D"/>
                </a:solidFill>
                <a:latin typeface="Arial" pitchFamily="34" charset="0"/>
                <a:ea typeface="Arial" pitchFamily="34" charset="-122"/>
                <a:cs typeface="Arial" pitchFamily="34" charset="-120"/>
              </a:rPr>
              <a:t>CONSTRAINT → DESIGN RESPONSE</a:t>
            </a:r>
            <a:endParaRPr lang="en-US" sz="800" dirty="0"/>
          </a:p>
        </p:txBody>
      </p:sp>
      <p:sp>
        <p:nvSpPr>
          <p:cNvPr id="44" name="Shape 39"/>
          <p:cNvSpPr/>
          <p:nvPr/>
        </p:nvSpPr>
        <p:spPr>
          <a:xfrm>
            <a:off x="5577840" y="5824728"/>
            <a:ext cx="1783080" cy="347472"/>
          </a:xfrm>
          <a:prstGeom prst="roundRect">
            <a:avLst>
              <a:gd name="adj" fmla="val 21053"/>
            </a:avLst>
          </a:prstGeom>
          <a:solidFill>
            <a:srgbClr val="FFFDF7"/>
          </a:solidFill>
          <a:ln w="9525">
            <a:solidFill>
              <a:srgbClr val="DCD5C5"/>
            </a:solidFill>
            <a:prstDash val="solid"/>
          </a:ln>
        </p:spPr>
      </p:sp>
      <p:sp>
        <p:nvSpPr>
          <p:cNvPr id="45" name="Text 40"/>
          <p:cNvSpPr txBox="1"/>
          <p:nvPr/>
        </p:nvSpPr>
        <p:spPr>
          <a:xfrm>
            <a:off x="565099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UPDATES</a:t>
            </a:r>
            <a:endParaRPr lang="en-US" sz="650" dirty="0"/>
          </a:p>
        </p:txBody>
      </p:sp>
      <p:sp>
        <p:nvSpPr>
          <p:cNvPr id="46" name="Text 41"/>
          <p:cNvSpPr txBox="1"/>
          <p:nvPr/>
        </p:nvSpPr>
        <p:spPr>
          <a:xfrm>
            <a:off x="632764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re-run per bulletin</a:t>
            </a:r>
            <a:endParaRPr lang="en-US" sz="750" dirty="0"/>
          </a:p>
        </p:txBody>
      </p:sp>
      <p:sp>
        <p:nvSpPr>
          <p:cNvPr id="47" name="Shape 42"/>
          <p:cNvSpPr/>
          <p:nvPr/>
        </p:nvSpPr>
        <p:spPr>
          <a:xfrm>
            <a:off x="7498080" y="5824728"/>
            <a:ext cx="1783080" cy="347472"/>
          </a:xfrm>
          <a:prstGeom prst="roundRect">
            <a:avLst>
              <a:gd name="adj" fmla="val 21053"/>
            </a:avLst>
          </a:prstGeom>
          <a:solidFill>
            <a:srgbClr val="FFFDF7"/>
          </a:solidFill>
          <a:ln w="9525">
            <a:solidFill>
              <a:srgbClr val="DCD5C5"/>
            </a:solidFill>
            <a:prstDash val="solid"/>
          </a:ln>
        </p:spPr>
      </p:sp>
      <p:sp>
        <p:nvSpPr>
          <p:cNvPr id="48" name="Text 43"/>
          <p:cNvSpPr txBox="1"/>
          <p:nvPr/>
        </p:nvSpPr>
        <p:spPr>
          <a:xfrm>
            <a:off x="757123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LANGUAGES</a:t>
            </a:r>
            <a:endParaRPr lang="en-US" sz="650" dirty="0"/>
          </a:p>
        </p:txBody>
      </p:sp>
      <p:sp>
        <p:nvSpPr>
          <p:cNvPr id="49" name="Text 44"/>
          <p:cNvSpPr txBox="1"/>
          <p:nvPr/>
        </p:nvSpPr>
        <p:spPr>
          <a:xfrm>
            <a:off x="824788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templates + voice</a:t>
            </a:r>
            <a:endParaRPr lang="en-US" sz="750" dirty="0"/>
          </a:p>
        </p:txBody>
      </p:sp>
      <p:sp>
        <p:nvSpPr>
          <p:cNvPr id="50" name="Shape 45"/>
          <p:cNvSpPr/>
          <p:nvPr/>
        </p:nvSpPr>
        <p:spPr>
          <a:xfrm>
            <a:off x="9418320" y="5824728"/>
            <a:ext cx="1783080" cy="347472"/>
          </a:xfrm>
          <a:prstGeom prst="roundRect">
            <a:avLst>
              <a:gd name="adj" fmla="val 21053"/>
            </a:avLst>
          </a:prstGeom>
          <a:solidFill>
            <a:srgbClr val="FFFDF7"/>
          </a:solidFill>
          <a:ln w="9525">
            <a:solidFill>
              <a:srgbClr val="DCD5C5"/>
            </a:solidFill>
            <a:prstDash val="solid"/>
          </a:ln>
        </p:spPr>
      </p:sp>
      <p:sp>
        <p:nvSpPr>
          <p:cNvPr id="51" name="Text 46"/>
          <p:cNvSpPr txBox="1"/>
          <p:nvPr/>
        </p:nvSpPr>
        <p:spPr>
          <a:xfrm>
            <a:off x="949147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DATA GAPS</a:t>
            </a:r>
            <a:endParaRPr lang="en-US" sz="650" dirty="0"/>
          </a:p>
        </p:txBody>
      </p:sp>
      <p:sp>
        <p:nvSpPr>
          <p:cNvPr id="52" name="Text 47"/>
          <p:cNvSpPr txBox="1"/>
          <p:nvPr/>
        </p:nvSpPr>
        <p:spPr>
          <a:xfrm>
            <a:off x="1016812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labels + freshness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05 — JOURNEY</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Fani 2019 replay: Satapada at T-24 hours.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Scenario A of PRD §43: Odisha, Puri district, Odia, storm surge plus wind. All figures from sample replay data.</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Sample data on the synthetic terrain grid; surge is a screening estimate – defer to official surge guidance. Captured from the app, 30 Sep 2026.</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6</a:t>
            </a:r>
            <a:endParaRPr lang="en-US" sz="650" dirty="0"/>
          </a:p>
        </p:txBody>
      </p:sp>
      <p:sp>
        <p:nvSpPr>
          <p:cNvPr id="15" name="Shape 11"/>
          <p:cNvSpPr/>
          <p:nvPr/>
        </p:nvSpPr>
        <p:spPr>
          <a:xfrm>
            <a:off x="621792" y="1755648"/>
            <a:ext cx="2496312" cy="1417320"/>
          </a:xfrm>
          <a:prstGeom prst="roundRect">
            <a:avLst>
              <a:gd name="adj" fmla="val 6452"/>
            </a:avLst>
          </a:prstGeom>
          <a:solidFill>
            <a:srgbClr val="FFFDF7"/>
          </a:solidFill>
          <a:ln w="9525">
            <a:solidFill>
              <a:srgbClr val="DCD5C5"/>
            </a:solidFill>
            <a:prstDash val="solid"/>
          </a:ln>
        </p:spPr>
      </p:sp>
      <p:sp>
        <p:nvSpPr>
          <p:cNvPr id="16" name="Text 12"/>
          <p:cNvSpPr txBox="1"/>
          <p:nvPr/>
        </p:nvSpPr>
        <p:spPr>
          <a:xfrm>
            <a:off x="777240"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T-72H WATCH</a:t>
            </a:r>
            <a:endParaRPr lang="en-US" sz="750" dirty="0"/>
          </a:p>
        </p:txBody>
      </p:sp>
      <p:sp>
        <p:nvSpPr>
          <p:cNvPr id="17" name="Text 13"/>
          <p:cNvSpPr txBox="1"/>
          <p:nvPr/>
        </p:nvSpPr>
        <p:spPr>
          <a:xfrm>
            <a:off x="777240"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Bulletin parsed</a:t>
            </a:r>
            <a:endParaRPr lang="en-US" sz="1250" dirty="0"/>
          </a:p>
        </p:txBody>
      </p:sp>
      <p:sp>
        <p:nvSpPr>
          <p:cNvPr id="18" name="Text 14"/>
          <p:cNvSpPr txBox="1"/>
          <p:nvPr/>
        </p:nvSpPr>
        <p:spPr>
          <a:xfrm>
            <a:off x="777240"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14,100 people in 3 high-risk villages.</a:t>
            </a:r>
            <a:endParaRPr lang="en-US" sz="950" dirty="0"/>
          </a:p>
        </p:txBody>
      </p:sp>
      <p:sp>
        <p:nvSpPr>
          <p:cNvPr id="19" name="Text 15"/>
          <p:cNvSpPr txBox="1"/>
          <p:nvPr/>
        </p:nvSpPr>
        <p:spPr>
          <a:xfrm>
            <a:off x="3118104"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0" name="Shape 16"/>
          <p:cNvSpPr/>
          <p:nvPr/>
        </p:nvSpPr>
        <p:spPr>
          <a:xfrm>
            <a:off x="3392424" y="1755648"/>
            <a:ext cx="2496312" cy="1417320"/>
          </a:xfrm>
          <a:prstGeom prst="roundRect">
            <a:avLst>
              <a:gd name="adj" fmla="val 6452"/>
            </a:avLst>
          </a:prstGeom>
          <a:solidFill>
            <a:srgbClr val="FFFDF7"/>
          </a:solidFill>
          <a:ln w="9525">
            <a:solidFill>
              <a:srgbClr val="DCD5C5"/>
            </a:solidFill>
            <a:prstDash val="solid"/>
          </a:ln>
        </p:spPr>
      </p:sp>
      <p:sp>
        <p:nvSpPr>
          <p:cNvPr id="21" name="Text 17"/>
          <p:cNvSpPr txBox="1"/>
          <p:nvPr/>
        </p:nvSpPr>
        <p:spPr>
          <a:xfrm>
            <a:off x="3547872"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T-24H UPDATE</a:t>
            </a:r>
            <a:endParaRPr lang="en-US" sz="750" dirty="0"/>
          </a:p>
        </p:txBody>
      </p:sp>
      <p:sp>
        <p:nvSpPr>
          <p:cNvPr id="22" name="Text 18"/>
          <p:cNvSpPr txBox="1"/>
          <p:nvPr/>
        </p:nvSpPr>
        <p:spPr>
          <a:xfrm>
            <a:off x="3547872"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Hazards re-run</a:t>
            </a:r>
            <a:endParaRPr lang="en-US" sz="1250" dirty="0"/>
          </a:p>
        </p:txBody>
      </p:sp>
      <p:sp>
        <p:nvSpPr>
          <p:cNvPr id="23" name="Text 19"/>
          <p:cNvSpPr txBox="1"/>
          <p:nvPr/>
        </p:nvSpPr>
        <p:spPr>
          <a:xfrm>
            <a:off x="3547872"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Surge 1.66 m expected, 1.89 m high; cone 77 km.</a:t>
            </a:r>
            <a:endParaRPr lang="en-US" sz="950" dirty="0"/>
          </a:p>
        </p:txBody>
      </p:sp>
      <p:sp>
        <p:nvSpPr>
          <p:cNvPr id="24" name="Text 20"/>
          <p:cNvSpPr txBox="1"/>
          <p:nvPr/>
        </p:nvSpPr>
        <p:spPr>
          <a:xfrm>
            <a:off x="5888736"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5" name="Shape 21"/>
          <p:cNvSpPr/>
          <p:nvPr/>
        </p:nvSpPr>
        <p:spPr>
          <a:xfrm>
            <a:off x="6163056" y="1755648"/>
            <a:ext cx="2496312" cy="1417320"/>
          </a:xfrm>
          <a:prstGeom prst="roundRect">
            <a:avLst>
              <a:gd name="adj" fmla="val 6452"/>
            </a:avLst>
          </a:prstGeom>
          <a:solidFill>
            <a:srgbClr val="DCEEE8"/>
          </a:solidFill>
          <a:ln w="9525">
            <a:solidFill>
              <a:srgbClr val="12796D"/>
            </a:solidFill>
            <a:prstDash val="solid"/>
          </a:ln>
        </p:spPr>
      </p:sp>
      <p:sp>
        <p:nvSpPr>
          <p:cNvPr id="26" name="Text 22"/>
          <p:cNvSpPr txBox="1"/>
          <p:nvPr/>
        </p:nvSpPr>
        <p:spPr>
          <a:xfrm>
            <a:off x="6318504" y="1956816"/>
            <a:ext cx="2221992" cy="146304"/>
          </a:xfrm>
          <a:prstGeom prst="rect">
            <a:avLst/>
          </a:prstGeom>
          <a:noFill/>
          <a:ln/>
        </p:spPr>
        <p:txBody>
          <a:bodyPr wrap="square" lIns="0" tIns="0" rIns="0" bIns="0" rtlCol="0" anchor="t"/>
          <a:lstStyle/>
          <a:p>
            <a:pPr indent="0" marL="0">
              <a:buNone/>
            </a:pPr>
            <a:r>
              <a:rPr lang="en-US" sz="750" b="1" dirty="0">
                <a:solidFill>
                  <a:srgbClr val="12796D"/>
                </a:solidFill>
                <a:latin typeface="Arial" pitchFamily="34" charset="0"/>
                <a:ea typeface="Arial" pitchFamily="34" charset="-122"/>
                <a:cs typeface="Arial" pitchFamily="34" charset="-120"/>
              </a:rPr>
              <a:t>EXPOSURE</a:t>
            </a:r>
            <a:endParaRPr lang="en-US" sz="750" dirty="0"/>
          </a:p>
        </p:txBody>
      </p:sp>
      <p:sp>
        <p:nvSpPr>
          <p:cNvPr id="27" name="Text 23"/>
          <p:cNvSpPr txBox="1"/>
          <p:nvPr/>
        </p:nvSpPr>
        <p:spPr>
          <a:xfrm>
            <a:off x="6318504"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Satapada: risk 61</a:t>
            </a:r>
            <a:endParaRPr lang="en-US" sz="1250" dirty="0"/>
          </a:p>
        </p:txBody>
      </p:sp>
      <p:sp>
        <p:nvSpPr>
          <p:cNvPr id="28" name="Text 24"/>
          <p:cNvSpPr txBox="1"/>
          <p:nvPr/>
        </p:nvSpPr>
        <p:spPr>
          <a:xfrm>
            <a:off x="6318504"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No shelter reachable by road; 2 roads cut.</a:t>
            </a:r>
            <a:endParaRPr lang="en-US" sz="950" dirty="0"/>
          </a:p>
        </p:txBody>
      </p:sp>
      <p:sp>
        <p:nvSpPr>
          <p:cNvPr id="29" name="Text 25"/>
          <p:cNvSpPr txBox="1"/>
          <p:nvPr/>
        </p:nvSpPr>
        <p:spPr>
          <a:xfrm>
            <a:off x="8659368"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0" name="Shape 26"/>
          <p:cNvSpPr/>
          <p:nvPr/>
        </p:nvSpPr>
        <p:spPr>
          <a:xfrm>
            <a:off x="8933688" y="1755648"/>
            <a:ext cx="2496312" cy="1417320"/>
          </a:xfrm>
          <a:prstGeom prst="roundRect">
            <a:avLst>
              <a:gd name="adj" fmla="val 6452"/>
            </a:avLst>
          </a:prstGeom>
          <a:solidFill>
            <a:srgbClr val="FFFDF7"/>
          </a:solidFill>
          <a:ln w="9525">
            <a:solidFill>
              <a:srgbClr val="DCD5C5"/>
            </a:solidFill>
            <a:prstDash val="solid"/>
          </a:ln>
        </p:spPr>
      </p:sp>
      <p:sp>
        <p:nvSpPr>
          <p:cNvPr id="31" name="Text 27"/>
          <p:cNvSpPr txBox="1"/>
          <p:nvPr/>
        </p:nvSpPr>
        <p:spPr>
          <a:xfrm>
            <a:off x="9089136"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ADVISORY</a:t>
            </a:r>
            <a:endParaRPr lang="en-US" sz="750" dirty="0"/>
          </a:p>
        </p:txBody>
      </p:sp>
      <p:sp>
        <p:nvSpPr>
          <p:cNvPr id="32" name="Text 28"/>
          <p:cNvSpPr txBox="1"/>
          <p:nvPr/>
        </p:nvSpPr>
        <p:spPr>
          <a:xfrm>
            <a:off x="9089136"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Officer approves</a:t>
            </a:r>
            <a:endParaRPr lang="en-US" sz="1250" dirty="0"/>
          </a:p>
        </p:txBody>
      </p:sp>
      <p:sp>
        <p:nvSpPr>
          <p:cNvPr id="33" name="Text 29"/>
          <p:cNvSpPr txBox="1"/>
          <p:nvPr/>
        </p:nvSpPr>
        <p:spPr>
          <a:xfrm>
            <a:off x="9089136"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Odia draft, back-translated, then CAP 1.2.</a:t>
            </a:r>
            <a:endParaRPr lang="en-US" sz="950" dirty="0"/>
          </a:p>
        </p:txBody>
      </p:sp>
      <p:sp>
        <p:nvSpPr>
          <p:cNvPr id="34" name="Shape 30"/>
          <p:cNvSpPr/>
          <p:nvPr/>
        </p:nvSpPr>
        <p:spPr>
          <a:xfrm>
            <a:off x="621792" y="3611880"/>
            <a:ext cx="11000232" cy="2221992"/>
          </a:xfrm>
          <a:prstGeom prst="roundRect">
            <a:avLst>
              <a:gd name="adj" fmla="val 3292"/>
            </a:avLst>
          </a:prstGeom>
          <a:solidFill>
            <a:srgbClr val="1B3149"/>
          </a:solidFill>
          <a:ln/>
        </p:spPr>
      </p:sp>
      <p:sp>
        <p:nvSpPr>
          <p:cNvPr id="35" name="Text 31"/>
          <p:cNvSpPr txBox="1"/>
          <p:nvPr/>
        </p:nvSpPr>
        <p:spPr>
          <a:xfrm>
            <a:off x="896112" y="3895344"/>
            <a:ext cx="2743200" cy="146304"/>
          </a:xfrm>
          <a:prstGeom prst="rect">
            <a:avLst/>
          </a:prstGeom>
          <a:noFill/>
          <a:ln/>
        </p:spPr>
        <p:txBody>
          <a:bodyPr wrap="square" lIns="0" tIns="0" rIns="0" bIns="0" rtlCol="0" anchor="t"/>
          <a:lstStyle/>
          <a:p>
            <a:pPr indent="0" marL="0">
              <a:buNone/>
            </a:pPr>
            <a:r>
              <a:rPr lang="en-US" sz="850" b="1" spc="200" kern="0" dirty="0">
                <a:solidFill>
                  <a:srgbClr val="9ED8CC"/>
                </a:solidFill>
                <a:latin typeface="Arial" pitchFamily="34" charset="0"/>
                <a:ea typeface="Arial" pitchFamily="34" charset="-122"/>
                <a:cs typeface="Arial" pitchFamily="34" charset="-120"/>
              </a:rPr>
              <a:t>GEMINI SITUATION REPORT • T-24H</a:t>
            </a:r>
            <a:endParaRPr lang="en-US" sz="850" dirty="0"/>
          </a:p>
        </p:txBody>
      </p:sp>
      <p:sp>
        <p:nvSpPr>
          <p:cNvPr id="36" name="Text 32"/>
          <p:cNvSpPr txBox="1"/>
          <p:nvPr/>
        </p:nvSpPr>
        <p:spPr>
          <a:xfrm>
            <a:off x="896112" y="4206240"/>
            <a:ext cx="3108960" cy="822960"/>
          </a:xfrm>
          <a:prstGeom prst="rect">
            <a:avLst/>
          </a:prstGeom>
          <a:noFill/>
          <a:ln/>
        </p:spPr>
        <p:txBody>
          <a:bodyPr wrap="square" lIns="0" tIns="0" rIns="0" bIns="0" rtlCol="0" anchor="b">
            <a:normAutofit/>
          </a:bodyPr>
          <a:lstStyle/>
          <a:p>
            <a:pPr indent="0" marL="0">
              <a:buNone/>
            </a:pPr>
            <a:r>
              <a:rPr lang="en-US" sz="2000" b="1" dirty="0">
                <a:solidFill>
                  <a:srgbClr val="FFFFFF"/>
                </a:solidFill>
                <a:latin typeface="Arial" pitchFamily="34" charset="0"/>
                <a:ea typeface="Arial" pitchFamily="34" charset="-122"/>
                <a:cs typeface="Arial" pitchFamily="34" charset="-120"/>
              </a:rPr>
              <a:t>Evacuate by T-12h.</a:t>
            </a:r>
            <a:endParaRPr lang="en-US" sz="2000" dirty="0"/>
          </a:p>
        </p:txBody>
      </p:sp>
      <p:sp>
        <p:nvSpPr>
          <p:cNvPr id="37" name="Text 33"/>
          <p:cNvSpPr txBox="1"/>
          <p:nvPr/>
        </p:nvSpPr>
        <p:spPr>
          <a:xfrm>
            <a:off x="896112" y="5138928"/>
            <a:ext cx="3108960" cy="457200"/>
          </a:xfrm>
          <a:prstGeom prst="rect">
            <a:avLst/>
          </a:prstGeom>
          <a:noFill/>
          <a:ln/>
        </p:spPr>
        <p:txBody>
          <a:bodyPr wrap="square" lIns="0" tIns="0" rIns="0" bIns="0" rtlCol="0" anchor="t">
            <a:normAutofit/>
          </a:bodyPr>
          <a:lstStyle/>
          <a:p>
            <a:pPr indent="0" marL="0">
              <a:buNone/>
            </a:pPr>
            <a:r>
              <a:rPr lang="en-US" sz="1050" dirty="0">
                <a:solidFill>
                  <a:srgbClr val="D5DDE4"/>
                </a:solidFill>
                <a:latin typeface="Arial" pitchFamily="34" charset="0"/>
                <a:ea typeface="Arial" pitchFamily="34" charset="-122"/>
                <a:cs typeface="Arial" pitchFamily="34" charset="-120"/>
              </a:rPr>
              <a:t>Evidence-linked actions:</a:t>
            </a:r>
            <a:endParaRPr lang="en-US" sz="1050" dirty="0"/>
          </a:p>
        </p:txBody>
      </p:sp>
      <p:sp>
        <p:nvSpPr>
          <p:cNvPr id="38" name="Shape 34"/>
          <p:cNvSpPr/>
          <p:nvPr/>
        </p:nvSpPr>
        <p:spPr>
          <a:xfrm>
            <a:off x="4160520" y="4160520"/>
            <a:ext cx="402336" cy="402336"/>
          </a:xfrm>
          <a:prstGeom prst="ellipse">
            <a:avLst/>
          </a:prstGeom>
          <a:solidFill>
            <a:srgbClr val="12796D"/>
          </a:solidFill>
          <a:ln/>
        </p:spPr>
      </p:sp>
      <p:sp>
        <p:nvSpPr>
          <p:cNvPr id="39" name="Text 35"/>
          <p:cNvSpPr txBox="1"/>
          <p:nvPr/>
        </p:nvSpPr>
        <p:spPr>
          <a:xfrm>
            <a:off x="4160520"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0" name="Text 36"/>
          <p:cNvSpPr txBox="1"/>
          <p:nvPr/>
        </p:nvSpPr>
        <p:spPr>
          <a:xfrm>
            <a:off x="4663440"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59,600 people in high-risk villages</a:t>
            </a:r>
            <a:endParaRPr lang="en-US" sz="1150" dirty="0"/>
          </a:p>
        </p:txBody>
      </p:sp>
      <p:sp>
        <p:nvSpPr>
          <p:cNvPr id="41" name="Shape 37"/>
          <p:cNvSpPr/>
          <p:nvPr/>
        </p:nvSpPr>
        <p:spPr>
          <a:xfrm>
            <a:off x="6428232" y="4160520"/>
            <a:ext cx="402336" cy="402336"/>
          </a:xfrm>
          <a:prstGeom prst="ellipse">
            <a:avLst/>
          </a:prstGeom>
          <a:solidFill>
            <a:srgbClr val="12796D"/>
          </a:solidFill>
          <a:ln/>
        </p:spPr>
      </p:sp>
      <p:sp>
        <p:nvSpPr>
          <p:cNvPr id="42" name="Text 38"/>
          <p:cNvSpPr txBox="1"/>
          <p:nvPr/>
        </p:nvSpPr>
        <p:spPr>
          <a:xfrm>
            <a:off x="6428232"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3" name="Text 39"/>
          <p:cNvSpPr txBox="1"/>
          <p:nvPr/>
        </p:nvSpPr>
        <p:spPr>
          <a:xfrm>
            <a:off x="6931152"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Power: 5 substations by T-8h</a:t>
            </a:r>
            <a:endParaRPr lang="en-US" sz="1150" dirty="0"/>
          </a:p>
        </p:txBody>
      </p:sp>
      <p:sp>
        <p:nvSpPr>
          <p:cNvPr id="44" name="Shape 40"/>
          <p:cNvSpPr/>
          <p:nvPr/>
        </p:nvSpPr>
        <p:spPr>
          <a:xfrm>
            <a:off x="8695944" y="4160520"/>
            <a:ext cx="402336" cy="402336"/>
          </a:xfrm>
          <a:prstGeom prst="ellipse">
            <a:avLst/>
          </a:prstGeom>
          <a:solidFill>
            <a:srgbClr val="E8694A"/>
          </a:solidFill>
          <a:ln/>
        </p:spPr>
      </p:sp>
      <p:sp>
        <p:nvSpPr>
          <p:cNvPr id="45" name="Text 41"/>
          <p:cNvSpPr txBox="1"/>
          <p:nvPr/>
        </p:nvSpPr>
        <p:spPr>
          <a:xfrm>
            <a:off x="8695944"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6" name="Text 42"/>
          <p:cNvSpPr txBox="1"/>
          <p:nvPr/>
        </p:nvSpPr>
        <p:spPr>
          <a:xfrm>
            <a:off x="9198864"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Penthakata: 23,600 assigned, 1,650 seats</a:t>
            </a:r>
            <a:endParaRPr lang="en-US" sz="1150" dirty="0"/>
          </a:p>
        </p:txBody>
      </p:sp>
      <p:sp>
        <p:nvSpPr>
          <p:cNvPr id="47" name="Text 43"/>
          <p:cNvSpPr txBox="1"/>
          <p:nvPr/>
        </p:nvSpPr>
        <p:spPr>
          <a:xfrm>
            <a:off x="4160520" y="5138928"/>
            <a:ext cx="1554480" cy="182880"/>
          </a:xfrm>
          <a:prstGeom prst="rect">
            <a:avLst/>
          </a:prstGeom>
          <a:noFill/>
          <a:ln/>
        </p:spPr>
        <p:txBody>
          <a:bodyPr wrap="square" lIns="0" tIns="0" rIns="0" bIns="0" rtlCol="0" anchor="t"/>
          <a:lstStyle/>
          <a:p>
            <a:pPr indent="0" marL="0">
              <a:buNone/>
            </a:pPr>
            <a:r>
              <a:rPr lang="en-US" sz="750" b="1" dirty="0">
                <a:solidFill>
                  <a:srgbClr val="F3CB7A"/>
                </a:solidFill>
                <a:latin typeface="Arial" pitchFamily="34" charset="0"/>
                <a:ea typeface="Arial" pitchFamily="34" charset="-122"/>
                <a:cs typeface="Arial" pitchFamily="34" charset="-120"/>
              </a:rPr>
              <a:t>WHY TRUST IT</a:t>
            </a:r>
            <a:endParaRPr lang="en-US" sz="750" dirty="0"/>
          </a:p>
        </p:txBody>
      </p:sp>
      <p:sp>
        <p:nvSpPr>
          <p:cNvPr id="48" name="Text 44"/>
          <p:cNvSpPr txBox="1"/>
          <p:nvPr/>
        </p:nvSpPr>
        <p:spPr>
          <a:xfrm>
            <a:off x="5715000" y="5029200"/>
            <a:ext cx="5669280" cy="457200"/>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Numbers checked against the pipeline (grounded: true); model, version and prompt stored with the report.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06 — INNOVATION &amp; DIFFERENTIATION</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Not a new forecast. The missing local-impact layer.</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India's systems forecast and disseminate well; TatRaksha connects the forecast to village-level decisions.</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[1] IMD RSMC New Delhi.  [2] INCOIS.  [3] NDMA SACHET.  TatRaksha consumes official forecasts and defers to official surge guidance.</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7</a:t>
            </a:r>
            <a:endParaRPr lang="en-US" sz="650" dirty="0"/>
          </a:p>
        </p:txBody>
      </p:sp>
      <p:sp>
        <p:nvSpPr>
          <p:cNvPr id="15" name="Text 11"/>
          <p:cNvSpPr txBox="1"/>
          <p:nvPr/>
        </p:nvSpPr>
        <p:spPr>
          <a:xfrm>
            <a:off x="658368" y="1581912"/>
            <a:ext cx="228600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APPROACH</a:t>
            </a:r>
            <a:endParaRPr lang="en-US" sz="800" dirty="0"/>
          </a:p>
        </p:txBody>
      </p:sp>
      <p:sp>
        <p:nvSpPr>
          <p:cNvPr id="16" name="Text 12"/>
          <p:cNvSpPr txBox="1"/>
          <p:nvPr/>
        </p:nvSpPr>
        <p:spPr>
          <a:xfrm>
            <a:off x="2670048" y="1581912"/>
            <a:ext cx="402336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WHAT IT CONTRIBUTES</a:t>
            </a:r>
            <a:endParaRPr lang="en-US" sz="800" dirty="0"/>
          </a:p>
        </p:txBody>
      </p:sp>
      <p:sp>
        <p:nvSpPr>
          <p:cNvPr id="17" name="Text 13"/>
          <p:cNvSpPr txBox="1"/>
          <p:nvPr/>
        </p:nvSpPr>
        <p:spPr>
          <a:xfrm>
            <a:off x="6894576" y="1581912"/>
            <a:ext cx="438912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REMAINING BOUNDARY / GAP</a:t>
            </a:r>
            <a:endParaRPr lang="en-US" sz="800" dirty="0"/>
          </a:p>
        </p:txBody>
      </p:sp>
      <p:sp>
        <p:nvSpPr>
          <p:cNvPr id="18" name="Shape 14"/>
          <p:cNvSpPr/>
          <p:nvPr/>
        </p:nvSpPr>
        <p:spPr>
          <a:xfrm>
            <a:off x="621792" y="1874520"/>
            <a:ext cx="11000232" cy="603504"/>
          </a:xfrm>
          <a:prstGeom prst="roundRect">
            <a:avLst>
              <a:gd name="adj" fmla="val 12121"/>
            </a:avLst>
          </a:prstGeom>
          <a:solidFill>
            <a:srgbClr val="F0ECE3"/>
          </a:solidFill>
          <a:ln w="9525">
            <a:solidFill>
              <a:srgbClr val="DCD5C5"/>
            </a:solidFill>
            <a:prstDash val="solid"/>
          </a:ln>
        </p:spPr>
      </p:sp>
      <p:sp>
        <p:nvSpPr>
          <p:cNvPr id="19" name="Text 15"/>
          <p:cNvSpPr txBox="1"/>
          <p:nvPr/>
        </p:nvSpPr>
        <p:spPr>
          <a:xfrm>
            <a:off x="822960" y="1947672"/>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IMD RSMC bulletins</a:t>
            </a:r>
            <a:endParaRPr lang="en-US" sz="1150" dirty="0"/>
          </a:p>
        </p:txBody>
      </p:sp>
      <p:sp>
        <p:nvSpPr>
          <p:cNvPr id="20" name="Text 16"/>
          <p:cNvSpPr txBox="1"/>
          <p:nvPr/>
        </p:nvSpPr>
        <p:spPr>
          <a:xfrm>
            <a:off x="2834640" y="1947672"/>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Authoritative track, intensity, surge guidance</a:t>
            </a:r>
            <a:endParaRPr lang="en-US" sz="1000" dirty="0"/>
          </a:p>
        </p:txBody>
      </p:sp>
      <p:sp>
        <p:nvSpPr>
          <p:cNvPr id="21" name="Text 17"/>
          <p:cNvSpPr txBox="1"/>
          <p:nvPr/>
        </p:nvSpPr>
        <p:spPr>
          <a:xfrm>
            <a:off x="7059168" y="1947672"/>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Coast/district scale; local impact is compiled by hand</a:t>
            </a:r>
            <a:endParaRPr lang="en-US" sz="1000" dirty="0"/>
          </a:p>
        </p:txBody>
      </p:sp>
      <p:sp>
        <p:nvSpPr>
          <p:cNvPr id="22" name="Shape 18"/>
          <p:cNvSpPr/>
          <p:nvPr/>
        </p:nvSpPr>
        <p:spPr>
          <a:xfrm>
            <a:off x="621792" y="2633472"/>
            <a:ext cx="11000232" cy="603504"/>
          </a:xfrm>
          <a:prstGeom prst="roundRect">
            <a:avLst>
              <a:gd name="adj" fmla="val 12121"/>
            </a:avLst>
          </a:prstGeom>
          <a:solidFill>
            <a:srgbClr val="FFFDF7"/>
          </a:solidFill>
          <a:ln w="9525">
            <a:solidFill>
              <a:srgbClr val="DCD5C5"/>
            </a:solidFill>
            <a:prstDash val="solid"/>
          </a:ln>
        </p:spPr>
      </p:sp>
      <p:sp>
        <p:nvSpPr>
          <p:cNvPr id="23" name="Text 19"/>
          <p:cNvSpPr txBox="1"/>
          <p:nvPr/>
        </p:nvSpPr>
        <p:spPr>
          <a:xfrm>
            <a:off x="822960" y="2706624"/>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INCOIS ocean services</a:t>
            </a:r>
            <a:endParaRPr lang="en-US" sz="1150" dirty="0"/>
          </a:p>
        </p:txBody>
      </p:sp>
      <p:sp>
        <p:nvSpPr>
          <p:cNvPr id="24" name="Text 20"/>
          <p:cNvSpPr txBox="1"/>
          <p:nvPr/>
        </p:nvSpPr>
        <p:spPr>
          <a:xfrm>
            <a:off x="2834640" y="2706624"/>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Storm-surge and high-wave forecasts for the coast</a:t>
            </a:r>
            <a:endParaRPr lang="en-US" sz="1000" dirty="0"/>
          </a:p>
        </p:txBody>
      </p:sp>
      <p:sp>
        <p:nvSpPr>
          <p:cNvPr id="25" name="Text 21"/>
          <p:cNvSpPr txBox="1"/>
          <p:nvPr/>
        </p:nvSpPr>
        <p:spPr>
          <a:xfrm>
            <a:off x="7059168" y="2706624"/>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Hazard, not people, shelters or roads</a:t>
            </a:r>
            <a:endParaRPr lang="en-US" sz="1000" dirty="0"/>
          </a:p>
        </p:txBody>
      </p:sp>
      <p:sp>
        <p:nvSpPr>
          <p:cNvPr id="26" name="Shape 22"/>
          <p:cNvSpPr/>
          <p:nvPr/>
        </p:nvSpPr>
        <p:spPr>
          <a:xfrm>
            <a:off x="621792" y="3392424"/>
            <a:ext cx="11000232" cy="603504"/>
          </a:xfrm>
          <a:prstGeom prst="roundRect">
            <a:avLst>
              <a:gd name="adj" fmla="val 12121"/>
            </a:avLst>
          </a:prstGeom>
          <a:solidFill>
            <a:srgbClr val="F0ECE3"/>
          </a:solidFill>
          <a:ln w="9525">
            <a:solidFill>
              <a:srgbClr val="DCD5C5"/>
            </a:solidFill>
            <a:prstDash val="solid"/>
          </a:ln>
        </p:spPr>
      </p:sp>
      <p:sp>
        <p:nvSpPr>
          <p:cNvPr id="27" name="Text 23"/>
          <p:cNvSpPr txBox="1"/>
          <p:nvPr/>
        </p:nvSpPr>
        <p:spPr>
          <a:xfrm>
            <a:off x="822960" y="3465576"/>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NDMA SACHET (CAP)</a:t>
            </a:r>
            <a:endParaRPr lang="en-US" sz="1150" dirty="0"/>
          </a:p>
        </p:txBody>
      </p:sp>
      <p:sp>
        <p:nvSpPr>
          <p:cNvPr id="28" name="Text 24"/>
          <p:cNvSpPr txBox="1"/>
          <p:nvPr/>
        </p:nvSpPr>
        <p:spPr>
          <a:xfrm>
            <a:off x="2834640" y="3465576"/>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Standard, geo-targeted alert dissemination</a:t>
            </a:r>
            <a:endParaRPr lang="en-US" sz="1000" dirty="0"/>
          </a:p>
        </p:txBody>
      </p:sp>
      <p:sp>
        <p:nvSpPr>
          <p:cNvPr id="29" name="Text 25"/>
          <p:cNvSpPr txBox="1"/>
          <p:nvPr/>
        </p:nvSpPr>
        <p:spPr>
          <a:xfrm>
            <a:off x="7059168" y="3465576"/>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Delivers a message; does not decide who or what</a:t>
            </a:r>
            <a:endParaRPr lang="en-US" sz="1000" dirty="0"/>
          </a:p>
        </p:txBody>
      </p:sp>
      <p:sp>
        <p:nvSpPr>
          <p:cNvPr id="30" name="Shape 26"/>
          <p:cNvSpPr/>
          <p:nvPr/>
        </p:nvSpPr>
        <p:spPr>
          <a:xfrm>
            <a:off x="621792" y="4151376"/>
            <a:ext cx="11000232" cy="603504"/>
          </a:xfrm>
          <a:prstGeom prst="roundRect">
            <a:avLst>
              <a:gd name="adj" fmla="val 12121"/>
            </a:avLst>
          </a:prstGeom>
          <a:solidFill>
            <a:srgbClr val="FFFDF7"/>
          </a:solidFill>
          <a:ln w="9525">
            <a:solidFill>
              <a:srgbClr val="DCD5C5"/>
            </a:solidFill>
            <a:prstDash val="solid"/>
          </a:ln>
        </p:spPr>
      </p:sp>
      <p:sp>
        <p:nvSpPr>
          <p:cNvPr id="31" name="Text 27"/>
          <p:cNvSpPr txBox="1"/>
          <p:nvPr/>
        </p:nvSpPr>
        <p:spPr>
          <a:xfrm>
            <a:off x="822960" y="4224528"/>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Generic AI assistant</a:t>
            </a:r>
            <a:endParaRPr lang="en-US" sz="1150" dirty="0"/>
          </a:p>
        </p:txBody>
      </p:sp>
      <p:sp>
        <p:nvSpPr>
          <p:cNvPr id="32" name="Text 28"/>
          <p:cNvSpPr txBox="1"/>
          <p:nvPr/>
        </p:nvSpPr>
        <p:spPr>
          <a:xfrm>
            <a:off x="2834640" y="4224528"/>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Fast drafting and summarising</a:t>
            </a:r>
            <a:endParaRPr lang="en-US" sz="1000" dirty="0"/>
          </a:p>
        </p:txBody>
      </p:sp>
      <p:sp>
        <p:nvSpPr>
          <p:cNvPr id="33" name="Text 29"/>
          <p:cNvSpPr txBox="1"/>
          <p:nvPr/>
        </p:nvSpPr>
        <p:spPr>
          <a:xfrm>
            <a:off x="7059168" y="4224528"/>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No grounding, approval gate or audit trail</a:t>
            </a:r>
            <a:endParaRPr lang="en-US" sz="1000" dirty="0"/>
          </a:p>
        </p:txBody>
      </p:sp>
      <p:sp>
        <p:nvSpPr>
          <p:cNvPr id="34" name="Shape 30"/>
          <p:cNvSpPr/>
          <p:nvPr/>
        </p:nvSpPr>
        <p:spPr>
          <a:xfrm>
            <a:off x="621792" y="4910328"/>
            <a:ext cx="11000232" cy="603504"/>
          </a:xfrm>
          <a:prstGeom prst="roundRect">
            <a:avLst>
              <a:gd name="adj" fmla="val 12121"/>
            </a:avLst>
          </a:prstGeom>
          <a:solidFill>
            <a:srgbClr val="DCEEE8"/>
          </a:solidFill>
          <a:ln w="9525">
            <a:solidFill>
              <a:srgbClr val="12796D"/>
            </a:solidFill>
            <a:prstDash val="solid"/>
          </a:ln>
        </p:spPr>
      </p:sp>
      <p:sp>
        <p:nvSpPr>
          <p:cNvPr id="35" name="Text 31"/>
          <p:cNvSpPr txBox="1"/>
          <p:nvPr/>
        </p:nvSpPr>
        <p:spPr>
          <a:xfrm>
            <a:off x="822960" y="4983480"/>
            <a:ext cx="1920240" cy="457200"/>
          </a:xfrm>
          <a:prstGeom prst="rect">
            <a:avLst/>
          </a:prstGeom>
          <a:noFill/>
          <a:ln/>
        </p:spPr>
        <p:txBody>
          <a:bodyPr wrap="square" lIns="0" tIns="0" rIns="0" bIns="0" rtlCol="0" anchor="ctr">
            <a:normAutofit/>
          </a:bodyPr>
          <a:lstStyle/>
          <a:p>
            <a:pPr indent="0" marL="0">
              <a:buNone/>
            </a:pPr>
            <a:r>
              <a:rPr lang="en-US" sz="1150" b="1" dirty="0">
                <a:solidFill>
                  <a:srgbClr val="12796D"/>
                </a:solidFill>
                <a:latin typeface="Arial" pitchFamily="34" charset="0"/>
                <a:ea typeface="Arial" pitchFamily="34" charset="-122"/>
                <a:cs typeface="Arial" pitchFamily="34" charset="-120"/>
              </a:rPr>
              <a:t>TatRaksha</a:t>
            </a:r>
            <a:endParaRPr lang="en-US" sz="1150" dirty="0"/>
          </a:p>
        </p:txBody>
      </p:sp>
      <p:sp>
        <p:nvSpPr>
          <p:cNvPr id="36" name="Text 32"/>
          <p:cNvSpPr txBox="1"/>
          <p:nvPr/>
        </p:nvSpPr>
        <p:spPr>
          <a:xfrm>
            <a:off x="2834640" y="4983480"/>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Village risk + road cut-off + grounded Gemini sitrep + CAP</a:t>
            </a:r>
            <a:endParaRPr lang="en-US" sz="1000" dirty="0"/>
          </a:p>
        </p:txBody>
      </p:sp>
      <p:sp>
        <p:nvSpPr>
          <p:cNvPr id="37" name="Text 33"/>
          <p:cNvSpPr txBox="1"/>
          <p:nvPr/>
        </p:nvSpPr>
        <p:spPr>
          <a:xfrm>
            <a:off x="7059168" y="4983480"/>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Screening models; needs field validation; unproven</a:t>
            </a:r>
            <a:endParaRPr lang="en-US" sz="1000" dirty="0"/>
          </a:p>
        </p:txBody>
      </p:sp>
      <p:sp>
        <p:nvSpPr>
          <p:cNvPr id="38" name="Shape 34"/>
          <p:cNvSpPr/>
          <p:nvPr/>
        </p:nvSpPr>
        <p:spPr>
          <a:xfrm>
            <a:off x="658368" y="5843016"/>
            <a:ext cx="1719072" cy="310896"/>
          </a:xfrm>
          <a:prstGeom prst="roundRect">
            <a:avLst>
              <a:gd name="adj" fmla="val 23529"/>
            </a:avLst>
          </a:prstGeom>
          <a:solidFill>
            <a:srgbClr val="1B3149"/>
          </a:solidFill>
          <a:ln/>
        </p:spPr>
      </p:sp>
      <p:sp>
        <p:nvSpPr>
          <p:cNvPr id="39" name="Text 35"/>
          <p:cNvSpPr txBox="1"/>
          <p:nvPr/>
        </p:nvSpPr>
        <p:spPr>
          <a:xfrm>
            <a:off x="658368" y="5843016"/>
            <a:ext cx="1719072"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DISTINCTIVE CAPABILITY</a:t>
            </a:r>
            <a:endParaRPr lang="en-US" sz="700" dirty="0"/>
          </a:p>
        </p:txBody>
      </p:sp>
      <p:sp>
        <p:nvSpPr>
          <p:cNvPr id="40" name="Text 36"/>
          <p:cNvSpPr txBox="1"/>
          <p:nvPr/>
        </p:nvSpPr>
        <p:spPr>
          <a:xfrm>
            <a:off x="2606040" y="5824728"/>
            <a:ext cx="8961120" cy="347472"/>
          </a:xfrm>
          <a:prstGeom prst="rect">
            <a:avLst/>
          </a:prstGeom>
          <a:noFill/>
          <a:ln/>
        </p:spPr>
        <p:txBody>
          <a:bodyPr wrap="square" lIns="0" tIns="0" rIns="0" bIns="0" rtlCol="0" anchor="ctr">
            <a:normAutofit/>
          </a:bodyPr>
          <a:lstStyle/>
          <a:p>
            <a:pPr indent="0" marL="0">
              <a:buNone/>
            </a:pPr>
            <a:r>
              <a:rPr lang="en-US" sz="1400" b="1" dirty="0">
                <a:solidFill>
                  <a:srgbClr val="1B3149"/>
                </a:solidFill>
                <a:latin typeface="Arial" pitchFamily="34" charset="0"/>
                <a:ea typeface="Arial" pitchFamily="34" charset="-122"/>
                <a:cs typeface="Arial" pitchFamily="34" charset="-120"/>
              </a:rPr>
              <a:t>Feeds official forecasts in and CAP alerts out: it complements, not replaces, national systems.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07 — TECHNOLOGY &amp; GOOGLE AI</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Bounded Gemini on transparent hazard models.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Gemini reads and reasons; it never measures. Every AI output is schema-validated JSON.</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[6] Earth Engine data catalog. Rain-flood likelihood is a transparent heuristic until the Vertex AI model is trained (PRD §12).</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8</a:t>
            </a:r>
            <a:endParaRPr lang="en-US" sz="650" dirty="0"/>
          </a:p>
        </p:txBody>
      </p:sp>
      <p:sp>
        <p:nvSpPr>
          <p:cNvPr id="15" name="Shape 11"/>
          <p:cNvSpPr/>
          <p:nvPr/>
        </p:nvSpPr>
        <p:spPr>
          <a:xfrm>
            <a:off x="621792" y="1709928"/>
            <a:ext cx="6702552" cy="612648"/>
          </a:xfrm>
          <a:prstGeom prst="roundRect">
            <a:avLst>
              <a:gd name="adj" fmla="val 11940"/>
            </a:avLst>
          </a:prstGeom>
          <a:solidFill>
            <a:srgbClr val="FFFDF7"/>
          </a:solidFill>
          <a:ln w="9525">
            <a:solidFill>
              <a:srgbClr val="DCD5C5"/>
            </a:solidFill>
            <a:prstDash val="solid"/>
          </a:ln>
        </p:spPr>
      </p:sp>
      <p:sp>
        <p:nvSpPr>
          <p:cNvPr id="16" name="Text 12"/>
          <p:cNvSpPr txBox="1"/>
          <p:nvPr/>
        </p:nvSpPr>
        <p:spPr>
          <a:xfrm>
            <a:off x="822960" y="1911096"/>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01</a:t>
            </a:r>
            <a:endParaRPr lang="en-US" sz="750" dirty="0"/>
          </a:p>
        </p:txBody>
      </p:sp>
      <p:sp>
        <p:nvSpPr>
          <p:cNvPr id="17" name="Text 13"/>
          <p:cNvSpPr txBox="1"/>
          <p:nvPr/>
        </p:nvSpPr>
        <p:spPr>
          <a:xfrm>
            <a:off x="1234440" y="1874520"/>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OFFICIAL INPUTS</a:t>
            </a:r>
            <a:endParaRPr lang="en-US" sz="1100" dirty="0"/>
          </a:p>
        </p:txBody>
      </p:sp>
      <p:sp>
        <p:nvSpPr>
          <p:cNvPr id="18" name="Text 14"/>
          <p:cNvSpPr txBox="1"/>
          <p:nvPr/>
        </p:nvSpPr>
        <p:spPr>
          <a:xfrm>
            <a:off x="3246120" y="1819656"/>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IMD bulletin text/PDF • state adapter JSON • canonical schema</a:t>
            </a:r>
            <a:endParaRPr lang="en-US" sz="950" dirty="0"/>
          </a:p>
        </p:txBody>
      </p:sp>
      <p:sp>
        <p:nvSpPr>
          <p:cNvPr id="19" name="Shape 15"/>
          <p:cNvSpPr/>
          <p:nvPr/>
        </p:nvSpPr>
        <p:spPr>
          <a:xfrm>
            <a:off x="621792" y="2514600"/>
            <a:ext cx="6702552" cy="612648"/>
          </a:xfrm>
          <a:prstGeom prst="roundRect">
            <a:avLst>
              <a:gd name="adj" fmla="val 11940"/>
            </a:avLst>
          </a:prstGeom>
          <a:solidFill>
            <a:srgbClr val="FFFDF7"/>
          </a:solidFill>
          <a:ln w="9525">
            <a:solidFill>
              <a:srgbClr val="DCD5C5"/>
            </a:solidFill>
            <a:prstDash val="solid"/>
          </a:ln>
        </p:spPr>
      </p:sp>
      <p:sp>
        <p:nvSpPr>
          <p:cNvPr id="20" name="Text 16"/>
          <p:cNvSpPr txBox="1"/>
          <p:nvPr/>
        </p:nvSpPr>
        <p:spPr>
          <a:xfrm>
            <a:off x="822960" y="2715768"/>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02</a:t>
            </a:r>
            <a:endParaRPr lang="en-US" sz="750" dirty="0"/>
          </a:p>
        </p:txBody>
      </p:sp>
      <p:sp>
        <p:nvSpPr>
          <p:cNvPr id="21" name="Text 17"/>
          <p:cNvSpPr txBox="1"/>
          <p:nvPr/>
        </p:nvSpPr>
        <p:spPr>
          <a:xfrm>
            <a:off x="1234440" y="2679192"/>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HAZARD ENGINE</a:t>
            </a:r>
            <a:endParaRPr lang="en-US" sz="1100" dirty="0"/>
          </a:p>
        </p:txBody>
      </p:sp>
      <p:sp>
        <p:nvSpPr>
          <p:cNvPr id="22" name="Text 18"/>
          <p:cNvSpPr txBox="1"/>
          <p:nvPr/>
        </p:nvSpPr>
        <p:spPr>
          <a:xfrm>
            <a:off x="3246120" y="2624328"/>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Screening surge • rain-flood heuristic • Rankine wind • 9-track set</a:t>
            </a:r>
            <a:endParaRPr lang="en-US" sz="950" dirty="0"/>
          </a:p>
        </p:txBody>
      </p:sp>
      <p:sp>
        <p:nvSpPr>
          <p:cNvPr id="23" name="Shape 19"/>
          <p:cNvSpPr/>
          <p:nvPr/>
        </p:nvSpPr>
        <p:spPr>
          <a:xfrm>
            <a:off x="621792" y="3319272"/>
            <a:ext cx="6702552" cy="612648"/>
          </a:xfrm>
          <a:prstGeom prst="roundRect">
            <a:avLst>
              <a:gd name="adj" fmla="val 11940"/>
            </a:avLst>
          </a:prstGeom>
          <a:solidFill>
            <a:srgbClr val="FFFDF7"/>
          </a:solidFill>
          <a:ln w="9525">
            <a:solidFill>
              <a:srgbClr val="DCD5C5"/>
            </a:solidFill>
            <a:prstDash val="solid"/>
          </a:ln>
        </p:spPr>
      </p:sp>
      <p:sp>
        <p:nvSpPr>
          <p:cNvPr id="24" name="Text 20"/>
          <p:cNvSpPr txBox="1"/>
          <p:nvPr/>
        </p:nvSpPr>
        <p:spPr>
          <a:xfrm>
            <a:off x="822960" y="3520440"/>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03</a:t>
            </a:r>
            <a:endParaRPr lang="en-US" sz="750" dirty="0"/>
          </a:p>
        </p:txBody>
      </p:sp>
      <p:sp>
        <p:nvSpPr>
          <p:cNvPr id="25" name="Text 21"/>
          <p:cNvSpPr txBox="1"/>
          <p:nvPr/>
        </p:nvSpPr>
        <p:spPr>
          <a:xfrm>
            <a:off x="1234440" y="3483864"/>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EXPOSURE + ROUTING</a:t>
            </a:r>
            <a:endParaRPr lang="en-US" sz="1100" dirty="0"/>
          </a:p>
        </p:txBody>
      </p:sp>
      <p:sp>
        <p:nvSpPr>
          <p:cNvPr id="26" name="Text 22"/>
          <p:cNvSpPr txBox="1"/>
          <p:nvPr/>
        </p:nvSpPr>
        <p:spPr>
          <a:xfrm>
            <a:off x="3246120" y="3429000"/>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Village Risk 30/25/15/15/15 • road cut-off • Google Routes</a:t>
            </a:r>
            <a:endParaRPr lang="en-US" sz="950" dirty="0"/>
          </a:p>
        </p:txBody>
      </p:sp>
      <p:sp>
        <p:nvSpPr>
          <p:cNvPr id="27" name="Shape 23"/>
          <p:cNvSpPr/>
          <p:nvPr/>
        </p:nvSpPr>
        <p:spPr>
          <a:xfrm>
            <a:off x="621792" y="4123944"/>
            <a:ext cx="6702552" cy="612648"/>
          </a:xfrm>
          <a:prstGeom prst="roundRect">
            <a:avLst>
              <a:gd name="adj" fmla="val 11940"/>
            </a:avLst>
          </a:prstGeom>
          <a:solidFill>
            <a:srgbClr val="DCEEE8"/>
          </a:solidFill>
          <a:ln w="9525">
            <a:solidFill>
              <a:srgbClr val="12796D"/>
            </a:solidFill>
            <a:prstDash val="solid"/>
          </a:ln>
        </p:spPr>
      </p:sp>
      <p:sp>
        <p:nvSpPr>
          <p:cNvPr id="28" name="Text 24"/>
          <p:cNvSpPr txBox="1"/>
          <p:nvPr/>
        </p:nvSpPr>
        <p:spPr>
          <a:xfrm>
            <a:off x="822960" y="4325112"/>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04</a:t>
            </a:r>
            <a:endParaRPr lang="en-US" sz="750" dirty="0"/>
          </a:p>
        </p:txBody>
      </p:sp>
      <p:sp>
        <p:nvSpPr>
          <p:cNvPr id="29" name="Text 25"/>
          <p:cNvSpPr txBox="1"/>
          <p:nvPr/>
        </p:nvSpPr>
        <p:spPr>
          <a:xfrm>
            <a:off x="1234440" y="4288536"/>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GEMINI LAYER</a:t>
            </a:r>
            <a:endParaRPr lang="en-US" sz="1100" dirty="0"/>
          </a:p>
        </p:txBody>
      </p:sp>
      <p:sp>
        <p:nvSpPr>
          <p:cNvPr id="30" name="Text 26"/>
          <p:cNvSpPr txBox="1"/>
          <p:nvPr/>
        </p:nvSpPr>
        <p:spPr>
          <a:xfrm>
            <a:off x="3246120" y="4233672"/>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Gemini 3.7 Flash: parse, multimodal sitrep, drafts; versioned prompts</a:t>
            </a:r>
            <a:endParaRPr lang="en-US" sz="950" dirty="0"/>
          </a:p>
        </p:txBody>
      </p:sp>
      <p:sp>
        <p:nvSpPr>
          <p:cNvPr id="31" name="Shape 27"/>
          <p:cNvSpPr/>
          <p:nvPr/>
        </p:nvSpPr>
        <p:spPr>
          <a:xfrm>
            <a:off x="621792" y="4928616"/>
            <a:ext cx="6702552" cy="612648"/>
          </a:xfrm>
          <a:prstGeom prst="roundRect">
            <a:avLst>
              <a:gd name="adj" fmla="val 11940"/>
            </a:avLst>
          </a:prstGeom>
          <a:solidFill>
            <a:srgbClr val="FFFDF7"/>
          </a:solidFill>
          <a:ln w="9525">
            <a:solidFill>
              <a:srgbClr val="DCD5C5"/>
            </a:solidFill>
            <a:prstDash val="solid"/>
          </a:ln>
        </p:spPr>
      </p:sp>
      <p:sp>
        <p:nvSpPr>
          <p:cNvPr id="32" name="Text 28"/>
          <p:cNvSpPr txBox="1"/>
          <p:nvPr/>
        </p:nvSpPr>
        <p:spPr>
          <a:xfrm>
            <a:off x="822960" y="5129784"/>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05</a:t>
            </a:r>
            <a:endParaRPr lang="en-US" sz="750" dirty="0"/>
          </a:p>
        </p:txBody>
      </p:sp>
      <p:sp>
        <p:nvSpPr>
          <p:cNvPr id="33" name="Text 29"/>
          <p:cNvSpPr txBox="1"/>
          <p:nvPr/>
        </p:nvSpPr>
        <p:spPr>
          <a:xfrm>
            <a:off x="1234440" y="5093208"/>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DELIVERY + AUDIT</a:t>
            </a:r>
            <a:endParaRPr lang="en-US" sz="1100" dirty="0"/>
          </a:p>
        </p:txBody>
      </p:sp>
      <p:sp>
        <p:nvSpPr>
          <p:cNvPr id="34" name="Text 30"/>
          <p:cNvSpPr txBox="1"/>
          <p:nvPr/>
        </p:nvSpPr>
        <p:spPr>
          <a:xfrm>
            <a:off x="3246120" y="5038344"/>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CAP 1.2 • TTS/STT • sandbox dispatch • BigQuery audit • Cloud Run</a:t>
            </a:r>
            <a:endParaRPr lang="en-US" sz="950" dirty="0"/>
          </a:p>
        </p:txBody>
      </p:sp>
      <p:sp>
        <p:nvSpPr>
          <p:cNvPr id="35" name="Shape 31"/>
          <p:cNvSpPr/>
          <p:nvPr/>
        </p:nvSpPr>
        <p:spPr>
          <a:xfrm>
            <a:off x="7662672" y="1700784"/>
            <a:ext cx="3931920" cy="2011680"/>
          </a:xfrm>
          <a:prstGeom prst="roundRect">
            <a:avLst>
              <a:gd name="adj" fmla="val 3636"/>
            </a:avLst>
          </a:prstGeom>
          <a:solidFill>
            <a:srgbClr val="1B3149"/>
          </a:solidFill>
          <a:ln/>
        </p:spPr>
      </p:sp>
      <p:sp>
        <p:nvSpPr>
          <p:cNvPr id="36" name="Text 32"/>
          <p:cNvSpPr txBox="1"/>
          <p:nvPr/>
        </p:nvSpPr>
        <p:spPr>
          <a:xfrm>
            <a:off x="7955280" y="1920240"/>
            <a:ext cx="3474720" cy="22860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Arial" pitchFamily="34" charset="0"/>
                <a:ea typeface="Arial" pitchFamily="34" charset="-122"/>
                <a:cs typeface="Arial" pitchFamily="34" charset="-120"/>
              </a:rPr>
              <a:t>GOOGLE AI INTEGRATION MAP</a:t>
            </a:r>
            <a:endParaRPr lang="en-US" sz="1200" dirty="0"/>
          </a:p>
        </p:txBody>
      </p:sp>
      <p:sp>
        <p:nvSpPr>
          <p:cNvPr id="37" name="Shape 33"/>
          <p:cNvSpPr/>
          <p:nvPr/>
        </p:nvSpPr>
        <p:spPr>
          <a:xfrm>
            <a:off x="7982712" y="2340864"/>
            <a:ext cx="109728" cy="109728"/>
          </a:xfrm>
          <a:prstGeom prst="ellipse">
            <a:avLst/>
          </a:prstGeom>
          <a:solidFill>
            <a:srgbClr val="9ED8CC"/>
          </a:solidFill>
          <a:ln/>
        </p:spPr>
      </p:sp>
      <p:sp>
        <p:nvSpPr>
          <p:cNvPr id="38" name="Text 34"/>
          <p:cNvSpPr txBox="1"/>
          <p:nvPr/>
        </p:nvSpPr>
        <p:spPr>
          <a:xfrm>
            <a:off x="8211312" y="2286000"/>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Live: Gemini 3.7 Flash on Vertex AI</a:t>
            </a:r>
            <a:endParaRPr lang="en-US" sz="950" dirty="0"/>
          </a:p>
        </p:txBody>
      </p:sp>
      <p:sp>
        <p:nvSpPr>
          <p:cNvPr id="39" name="Shape 35"/>
          <p:cNvSpPr/>
          <p:nvPr/>
        </p:nvSpPr>
        <p:spPr>
          <a:xfrm>
            <a:off x="7982712" y="2642616"/>
            <a:ext cx="109728" cy="109728"/>
          </a:xfrm>
          <a:prstGeom prst="ellipse">
            <a:avLst/>
          </a:prstGeom>
          <a:solidFill>
            <a:srgbClr val="9ED8CC"/>
          </a:solidFill>
          <a:ln/>
        </p:spPr>
      </p:sp>
      <p:sp>
        <p:nvSpPr>
          <p:cNvPr id="40" name="Text 36"/>
          <p:cNvSpPr txBox="1"/>
          <p:nvPr/>
        </p:nvSpPr>
        <p:spPr>
          <a:xfrm>
            <a:off x="8211312" y="2587752"/>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Live: Maps Routes, Translation, TTS, STT</a:t>
            </a:r>
            <a:endParaRPr lang="en-US" sz="950" dirty="0"/>
          </a:p>
        </p:txBody>
      </p:sp>
      <p:sp>
        <p:nvSpPr>
          <p:cNvPr id="41" name="Shape 37"/>
          <p:cNvSpPr/>
          <p:nvPr/>
        </p:nvSpPr>
        <p:spPr>
          <a:xfrm>
            <a:off x="7982712" y="2944368"/>
            <a:ext cx="109728" cy="109728"/>
          </a:xfrm>
          <a:prstGeom prst="ellipse">
            <a:avLst/>
          </a:prstGeom>
          <a:solidFill>
            <a:srgbClr val="9ED8CC"/>
          </a:solidFill>
          <a:ln/>
        </p:spPr>
      </p:sp>
      <p:sp>
        <p:nvSpPr>
          <p:cNvPr id="42" name="Text 38"/>
          <p:cNvSpPr txBox="1"/>
          <p:nvPr/>
        </p:nvSpPr>
        <p:spPr>
          <a:xfrm>
            <a:off x="8211312" y="2889504"/>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Live: BigQuery audit, Cloud Storage archive</a:t>
            </a:r>
            <a:endParaRPr lang="en-US" sz="950" dirty="0"/>
          </a:p>
        </p:txBody>
      </p:sp>
      <p:sp>
        <p:nvSpPr>
          <p:cNvPr id="43" name="Shape 39"/>
          <p:cNvSpPr/>
          <p:nvPr/>
        </p:nvSpPr>
        <p:spPr>
          <a:xfrm>
            <a:off x="7964424" y="3364992"/>
            <a:ext cx="822960" cy="274320"/>
          </a:xfrm>
          <a:prstGeom prst="roundRect">
            <a:avLst>
              <a:gd name="adj" fmla="val 26667"/>
            </a:avLst>
          </a:prstGeom>
          <a:solidFill>
            <a:srgbClr val="E8694A"/>
          </a:solidFill>
          <a:ln/>
        </p:spPr>
      </p:sp>
      <p:sp>
        <p:nvSpPr>
          <p:cNvPr id="44" name="Text 40"/>
          <p:cNvSpPr txBox="1"/>
          <p:nvPr/>
        </p:nvSpPr>
        <p:spPr>
          <a:xfrm>
            <a:off x="7964424" y="3364992"/>
            <a:ext cx="822960" cy="274320"/>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Arial" pitchFamily="34" charset="0"/>
                <a:ea typeface="Arial" pitchFamily="34" charset="-122"/>
                <a:cs typeface="Arial" pitchFamily="34" charset="-120"/>
              </a:rPr>
              <a:t>NEXT</a:t>
            </a:r>
            <a:endParaRPr lang="en-US" sz="650" dirty="0"/>
          </a:p>
        </p:txBody>
      </p:sp>
      <p:sp>
        <p:nvSpPr>
          <p:cNvPr id="45" name="Text 41"/>
          <p:cNvSpPr txBox="1"/>
          <p:nvPr/>
        </p:nvSpPr>
        <p:spPr>
          <a:xfrm>
            <a:off x="8869680" y="3346704"/>
            <a:ext cx="2606040" cy="310896"/>
          </a:xfrm>
          <a:prstGeom prst="rect">
            <a:avLst/>
          </a:prstGeom>
          <a:noFill/>
          <a:ln/>
        </p:spPr>
        <p:txBody>
          <a:bodyPr wrap="square" lIns="0" tIns="0" rIns="0" bIns="0" rtlCol="0" anchor="ctr">
            <a:normAutofit/>
          </a:bodyPr>
          <a:lstStyle/>
          <a:p>
            <a:pPr indent="0" marL="0">
              <a:buNone/>
            </a:pPr>
            <a:r>
              <a:rPr lang="en-US" sz="850" b="1" dirty="0">
                <a:solidFill>
                  <a:srgbClr val="F3CB7A"/>
                </a:solidFill>
                <a:latin typeface="Arial" pitchFamily="34" charset="0"/>
                <a:ea typeface="Arial" pitchFamily="34" charset="-122"/>
                <a:cs typeface="Arial" pitchFamily="34" charset="-120"/>
              </a:rPr>
              <a:t>Earth Engine layers wired; Vertex AI flood model.</a:t>
            </a:r>
            <a:endParaRPr lang="en-US" sz="850" dirty="0"/>
          </a:p>
        </p:txBody>
      </p:sp>
      <p:sp>
        <p:nvSpPr>
          <p:cNvPr id="46" name="Shape 42"/>
          <p:cNvSpPr/>
          <p:nvPr/>
        </p:nvSpPr>
        <p:spPr>
          <a:xfrm>
            <a:off x="7662672" y="3995928"/>
            <a:ext cx="3931920" cy="1737360"/>
          </a:xfrm>
          <a:prstGeom prst="roundRect">
            <a:avLst>
              <a:gd name="adj" fmla="val 4211"/>
            </a:avLst>
          </a:prstGeom>
          <a:solidFill>
            <a:srgbClr val="FFFDF7"/>
          </a:solidFill>
          <a:ln w="9525">
            <a:solidFill>
              <a:srgbClr val="12796D"/>
            </a:solidFill>
            <a:prstDash val="solid"/>
          </a:ln>
        </p:spPr>
      </p:sp>
      <p:sp>
        <p:nvSpPr>
          <p:cNvPr id="47" name="Text 43"/>
          <p:cNvSpPr txBox="1"/>
          <p:nvPr/>
        </p:nvSpPr>
        <p:spPr>
          <a:xfrm>
            <a:off x="7955280" y="4224528"/>
            <a:ext cx="3474720" cy="228600"/>
          </a:xfrm>
          <a:prstGeom prst="rect">
            <a:avLst/>
          </a:prstGeom>
          <a:noFill/>
          <a:ln/>
        </p:spPr>
        <p:txBody>
          <a:bodyPr wrap="square" lIns="0" tIns="0" rIns="0" bIns="0" rtlCol="0" anchor="t">
            <a:normAutofit/>
          </a:bodyPr>
          <a:lstStyle/>
          <a:p>
            <a:pPr indent="0" marL="0">
              <a:buNone/>
            </a:pPr>
            <a:r>
              <a:rPr lang="en-US" sz="1200" b="1" dirty="0">
                <a:solidFill>
                  <a:srgbClr val="12796D"/>
                </a:solidFill>
                <a:latin typeface="Arial" pitchFamily="34" charset="0"/>
                <a:ea typeface="Arial" pitchFamily="34" charset="-122"/>
                <a:cs typeface="Arial" pitchFamily="34" charset="-120"/>
              </a:rPr>
              <a:t>REAL VS DEMO, AND FRESHNESS</a:t>
            </a:r>
            <a:endParaRPr lang="en-US" sz="1200" dirty="0"/>
          </a:p>
        </p:txBody>
      </p:sp>
      <p:sp>
        <p:nvSpPr>
          <p:cNvPr id="48" name="Text 44"/>
          <p:cNvSpPr txBox="1"/>
          <p:nvPr/>
        </p:nvSpPr>
        <p:spPr>
          <a:xfrm>
            <a:off x="7955280" y="4645152"/>
            <a:ext cx="1005840" cy="310896"/>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Startup probe</a:t>
            </a:r>
            <a:endParaRPr lang="en-US" sz="850" dirty="0"/>
          </a:p>
        </p:txBody>
      </p:sp>
      <p:sp>
        <p:nvSpPr>
          <p:cNvPr id="49" name="Text 45"/>
          <p:cNvSpPr txBox="1"/>
          <p:nvPr/>
        </p:nvSpPr>
        <p:spPr>
          <a:xfrm>
            <a:off x="9052560" y="464515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One live call per integration; the badge shows what truly works</a:t>
            </a:r>
            <a:endParaRPr lang="en-US" sz="850" dirty="0"/>
          </a:p>
        </p:txBody>
      </p:sp>
      <p:sp>
        <p:nvSpPr>
          <p:cNvPr id="50" name="Text 46"/>
          <p:cNvSpPr txBox="1"/>
          <p:nvPr/>
        </p:nvSpPr>
        <p:spPr>
          <a:xfrm>
            <a:off x="7955280" y="5010912"/>
            <a:ext cx="1005840" cy="310896"/>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Sample flag</a:t>
            </a:r>
            <a:endParaRPr lang="en-US" sz="850" dirty="0"/>
          </a:p>
        </p:txBody>
      </p:sp>
      <p:sp>
        <p:nvSpPr>
          <p:cNvPr id="51" name="Text 47"/>
          <p:cNvSpPr txBox="1"/>
          <p:nvPr/>
        </p:nvSpPr>
        <p:spPr>
          <a:xfrm>
            <a:off x="9052560" y="501091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Replay data carry is_sample in the data and the UI</a:t>
            </a:r>
            <a:endParaRPr lang="en-US" sz="850" dirty="0"/>
          </a:p>
        </p:txBody>
      </p:sp>
      <p:sp>
        <p:nvSpPr>
          <p:cNvPr id="52" name="Text 48"/>
          <p:cNvSpPr txBox="1"/>
          <p:nvPr/>
        </p:nvSpPr>
        <p:spPr>
          <a:xfrm>
            <a:off x="7955280" y="5376672"/>
            <a:ext cx="1005840" cy="310896"/>
          </a:xfrm>
          <a:prstGeom prst="rect">
            <a:avLst/>
          </a:prstGeom>
          <a:noFill/>
          <a:ln/>
        </p:spPr>
        <p:txBody>
          <a:bodyPr wrap="square" lIns="0" tIns="0" rIns="0" bIns="0" rtlCol="0" anchor="t">
            <a:normAutofit/>
          </a:bodyPr>
          <a:lstStyle/>
          <a:p>
            <a:pPr indent="0" marL="0">
              <a:buNone/>
            </a:pPr>
            <a:r>
              <a:rPr lang="en-US" sz="850" b="1" dirty="0">
                <a:solidFill>
                  <a:srgbClr val="E8694A"/>
                </a:solidFill>
                <a:latin typeface="Arial" pitchFamily="34" charset="0"/>
                <a:ea typeface="Arial" pitchFamily="34" charset="-122"/>
                <a:cs typeface="Arial" pitchFamily="34" charset="-120"/>
              </a:rPr>
              <a:t>Stale input</a:t>
            </a:r>
            <a:endParaRPr lang="en-US" sz="850" dirty="0"/>
          </a:p>
        </p:txBody>
      </p:sp>
      <p:sp>
        <p:nvSpPr>
          <p:cNvPr id="53" name="Text 49"/>
          <p:cNvSpPr txBox="1"/>
          <p:nvPr/>
        </p:nvSpPr>
        <p:spPr>
          <a:xfrm>
            <a:off x="9052560" y="537667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A newer bulletin marks the analysis out of date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08 — RESPONSIBLE AI &amp; DATA</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Life-safety AI must be checkable and overridable.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Prefer caution, show uncertainty, and keep a human decision on every warning.</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Rules from PRD §35 and §52.  [4] OASIS CAP 1.2.  Odia/Bengali templates are sample translations pending native-speaker review.</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9</a:t>
            </a:r>
            <a:endParaRPr lang="en-US" sz="650" dirty="0"/>
          </a:p>
        </p:txBody>
      </p:sp>
      <p:sp>
        <p:nvSpPr>
          <p:cNvPr id="15" name="Shape 11"/>
          <p:cNvSpPr/>
          <p:nvPr/>
        </p:nvSpPr>
        <p:spPr>
          <a:xfrm>
            <a:off x="621792" y="1700784"/>
            <a:ext cx="5230368" cy="1856232"/>
          </a:xfrm>
          <a:prstGeom prst="roundRect">
            <a:avLst>
              <a:gd name="adj" fmla="val 3941"/>
            </a:avLst>
          </a:prstGeom>
          <a:solidFill>
            <a:srgbClr val="DCEEE8"/>
          </a:solidFill>
          <a:ln w="9525">
            <a:solidFill>
              <a:srgbClr val="12796D"/>
            </a:solidFill>
            <a:prstDash val="solid"/>
          </a:ln>
        </p:spPr>
      </p:sp>
      <p:sp>
        <p:nvSpPr>
          <p:cNvPr id="16" name="Shape 12"/>
          <p:cNvSpPr/>
          <p:nvPr/>
        </p:nvSpPr>
        <p:spPr>
          <a:xfrm>
            <a:off x="868680" y="1920240"/>
            <a:ext cx="1463040" cy="310896"/>
          </a:xfrm>
          <a:prstGeom prst="roundRect">
            <a:avLst>
              <a:gd name="adj" fmla="val 23529"/>
            </a:avLst>
          </a:prstGeom>
          <a:solidFill>
            <a:srgbClr val="12796D"/>
          </a:solidFill>
          <a:ln/>
        </p:spPr>
      </p:sp>
      <p:sp>
        <p:nvSpPr>
          <p:cNvPr id="17" name="Text 13"/>
          <p:cNvSpPr txBox="1"/>
          <p:nvPr/>
        </p:nvSpPr>
        <p:spPr>
          <a:xfrm>
            <a:off x="868680" y="1920240"/>
            <a:ext cx="146304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HUMAN APPROVAL</a:t>
            </a:r>
            <a:endParaRPr lang="en-US" sz="700" dirty="0"/>
          </a:p>
        </p:txBody>
      </p:sp>
      <p:sp>
        <p:nvSpPr>
          <p:cNvPr id="18" name="Shape 14"/>
          <p:cNvSpPr/>
          <p:nvPr/>
        </p:nvSpPr>
        <p:spPr>
          <a:xfrm>
            <a:off x="2468880" y="1920240"/>
            <a:ext cx="2651760" cy="310896"/>
          </a:xfrm>
          <a:prstGeom prst="roundRect">
            <a:avLst>
              <a:gd name="adj" fmla="val 23529"/>
            </a:avLst>
          </a:prstGeom>
          <a:solidFill>
            <a:srgbClr val="1B3149"/>
          </a:solidFill>
          <a:ln/>
        </p:spPr>
      </p:sp>
      <p:sp>
        <p:nvSpPr>
          <p:cNvPr id="19" name="Text 15"/>
          <p:cNvSpPr txBox="1"/>
          <p:nvPr/>
        </p:nvSpPr>
        <p:spPr>
          <a:xfrm>
            <a:off x="2468880" y="1920240"/>
            <a:ext cx="2651760" cy="310896"/>
          </a:xfrm>
          <a:prstGeom prst="rect">
            <a:avLst/>
          </a:prstGeom>
          <a:noFill/>
          <a:ln/>
        </p:spPr>
        <p:txBody>
          <a:bodyPr wrap="square" lIns="0" tIns="0" rIns="0" bIns="0" rtlCol="0" anchor="ctr"/>
          <a:lstStyle/>
          <a:p>
            <a:pPr algn="ctr" indent="0" marL="0">
              <a:buNone/>
            </a:pPr>
            <a:r>
              <a:rPr lang="en-US" sz="700" b="1" spc="50" kern="0" dirty="0">
                <a:solidFill>
                  <a:srgbClr val="DDE6EC"/>
                </a:solidFill>
                <a:latin typeface="Arial" pitchFamily="34" charset="0"/>
                <a:ea typeface="Arial" pitchFamily="34" charset="-122"/>
                <a:cs typeface="Arial" pitchFamily="34" charset="-120"/>
              </a:rPr>
              <a:t>EVERY ADVISORY, EVERY DISPATCH</a:t>
            </a:r>
            <a:endParaRPr lang="en-US" sz="700" dirty="0"/>
          </a:p>
        </p:txBody>
      </p:sp>
      <p:sp>
        <p:nvSpPr>
          <p:cNvPr id="20" name="Text 16"/>
          <p:cNvSpPr txBox="1"/>
          <p:nvPr/>
        </p:nvSpPr>
        <p:spPr>
          <a:xfrm>
            <a:off x="868680" y="2514600"/>
            <a:ext cx="1143000" cy="274320"/>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Grounded numbers</a:t>
            </a:r>
            <a:endParaRPr lang="en-US" sz="1050" dirty="0"/>
          </a:p>
        </p:txBody>
      </p:sp>
      <p:sp>
        <p:nvSpPr>
          <p:cNvPr id="21" name="Text 17"/>
          <p:cNvSpPr txBox="1"/>
          <p:nvPr/>
        </p:nvSpPr>
        <p:spPr>
          <a:xfrm>
            <a:off x="2057400" y="2468880"/>
            <a:ext cx="3611880" cy="45720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Sitrep figures checked against the pipeline; ungrounded items removed and listed.</a:t>
            </a:r>
            <a:endParaRPr lang="en-US" sz="1100" dirty="0"/>
          </a:p>
        </p:txBody>
      </p:sp>
      <p:sp>
        <p:nvSpPr>
          <p:cNvPr id="22" name="Text 18"/>
          <p:cNvSpPr txBox="1"/>
          <p:nvPr/>
        </p:nvSpPr>
        <p:spPr>
          <a:xfrm>
            <a:off x="868680" y="3017520"/>
            <a:ext cx="1143000" cy="274320"/>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Provenance</a:t>
            </a:r>
            <a:endParaRPr lang="en-US" sz="1050" dirty="0"/>
          </a:p>
        </p:txBody>
      </p:sp>
      <p:sp>
        <p:nvSpPr>
          <p:cNvPr id="23" name="Text 19"/>
          <p:cNvSpPr txBox="1"/>
          <p:nvPr/>
        </p:nvSpPr>
        <p:spPr>
          <a:xfrm>
            <a:off x="2057400" y="2971800"/>
            <a:ext cx="3611880" cy="45720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model_name, model_version and prompt_version stored on every AI record.</a:t>
            </a:r>
            <a:endParaRPr lang="en-US" sz="1100" dirty="0"/>
          </a:p>
        </p:txBody>
      </p:sp>
      <p:sp>
        <p:nvSpPr>
          <p:cNvPr id="24" name="Shape 20"/>
          <p:cNvSpPr/>
          <p:nvPr/>
        </p:nvSpPr>
        <p:spPr>
          <a:xfrm>
            <a:off x="621792" y="3840480"/>
            <a:ext cx="5230368" cy="1709928"/>
          </a:xfrm>
          <a:prstGeom prst="roundRect">
            <a:avLst>
              <a:gd name="adj" fmla="val 4278"/>
            </a:avLst>
          </a:prstGeom>
          <a:solidFill>
            <a:srgbClr val="FBE6DE"/>
          </a:solidFill>
          <a:ln w="9525">
            <a:solidFill>
              <a:srgbClr val="E8694A"/>
            </a:solidFill>
            <a:prstDash val="solid"/>
          </a:ln>
        </p:spPr>
      </p:sp>
      <p:sp>
        <p:nvSpPr>
          <p:cNvPr id="25" name="Shape 21"/>
          <p:cNvSpPr/>
          <p:nvPr/>
        </p:nvSpPr>
        <p:spPr>
          <a:xfrm>
            <a:off x="868680" y="4087368"/>
            <a:ext cx="1463040" cy="310896"/>
          </a:xfrm>
          <a:prstGeom prst="roundRect">
            <a:avLst>
              <a:gd name="adj" fmla="val 23529"/>
            </a:avLst>
          </a:prstGeom>
          <a:solidFill>
            <a:srgbClr val="E8694A"/>
          </a:solidFill>
          <a:ln/>
        </p:spPr>
      </p:sp>
      <p:sp>
        <p:nvSpPr>
          <p:cNvPr id="26" name="Text 22"/>
          <p:cNvSpPr txBox="1"/>
          <p:nvPr/>
        </p:nvSpPr>
        <p:spPr>
          <a:xfrm>
            <a:off x="868680" y="4087368"/>
            <a:ext cx="146304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DO NOT DO / COLLECT</a:t>
            </a:r>
            <a:endParaRPr lang="en-US" sz="700" dirty="0"/>
          </a:p>
        </p:txBody>
      </p:sp>
      <p:sp>
        <p:nvSpPr>
          <p:cNvPr id="27" name="Shape 23"/>
          <p:cNvSpPr/>
          <p:nvPr/>
        </p:nvSpPr>
        <p:spPr>
          <a:xfrm>
            <a:off x="914400" y="4617720"/>
            <a:ext cx="118872" cy="118872"/>
          </a:xfrm>
          <a:prstGeom prst="ellipse">
            <a:avLst/>
          </a:prstGeom>
          <a:solidFill>
            <a:srgbClr val="E8694A"/>
          </a:solidFill>
          <a:ln/>
        </p:spPr>
      </p:sp>
      <p:sp>
        <p:nvSpPr>
          <p:cNvPr id="28" name="Text 24"/>
          <p:cNvSpPr txBox="1"/>
          <p:nvPr/>
        </p:nvSpPr>
        <p:spPr>
          <a:xfrm>
            <a:off x="1170432" y="4572000"/>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Invent forecast, surge or exposure numbers</a:t>
            </a:r>
            <a:endParaRPr lang="en-US" sz="1050" dirty="0"/>
          </a:p>
        </p:txBody>
      </p:sp>
      <p:sp>
        <p:nvSpPr>
          <p:cNvPr id="29" name="Shape 25"/>
          <p:cNvSpPr/>
          <p:nvPr/>
        </p:nvSpPr>
        <p:spPr>
          <a:xfrm>
            <a:off x="914400" y="4919472"/>
            <a:ext cx="118872" cy="118872"/>
          </a:xfrm>
          <a:prstGeom prst="ellipse">
            <a:avLst/>
          </a:prstGeom>
          <a:solidFill>
            <a:srgbClr val="E8694A"/>
          </a:solidFill>
          <a:ln/>
        </p:spPr>
      </p:sp>
      <p:sp>
        <p:nvSpPr>
          <p:cNvPr id="30" name="Text 26"/>
          <p:cNvSpPr txBox="1"/>
          <p:nvPr/>
        </p:nvSpPr>
        <p:spPr>
          <a:xfrm>
            <a:off x="1170432" y="4873752"/>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Store citizens' phone numbers (gateways hold them)</a:t>
            </a:r>
            <a:endParaRPr lang="en-US" sz="1050" dirty="0"/>
          </a:p>
        </p:txBody>
      </p:sp>
      <p:sp>
        <p:nvSpPr>
          <p:cNvPr id="31" name="Shape 27"/>
          <p:cNvSpPr/>
          <p:nvPr/>
        </p:nvSpPr>
        <p:spPr>
          <a:xfrm>
            <a:off x="914400" y="5221224"/>
            <a:ext cx="118872" cy="118872"/>
          </a:xfrm>
          <a:prstGeom prst="ellipse">
            <a:avLst/>
          </a:prstGeom>
          <a:solidFill>
            <a:srgbClr val="E8694A"/>
          </a:solidFill>
          <a:ln/>
        </p:spPr>
      </p:sp>
      <p:sp>
        <p:nvSpPr>
          <p:cNvPr id="32" name="Text 28"/>
          <p:cNvSpPr txBox="1"/>
          <p:nvPr/>
        </p:nvSpPr>
        <p:spPr>
          <a:xfrm>
            <a:off x="1170432" y="5175504"/>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Send real public alerts from the MVP (sandbox only)</a:t>
            </a:r>
            <a:endParaRPr lang="en-US" sz="1050" dirty="0"/>
          </a:p>
        </p:txBody>
      </p:sp>
      <p:sp>
        <p:nvSpPr>
          <p:cNvPr id="33" name="Shape 29"/>
          <p:cNvSpPr/>
          <p:nvPr/>
        </p:nvSpPr>
        <p:spPr>
          <a:xfrm>
            <a:off x="6153912" y="1700784"/>
            <a:ext cx="5422392" cy="3849624"/>
          </a:xfrm>
          <a:prstGeom prst="roundRect">
            <a:avLst>
              <a:gd name="adj" fmla="val 1900"/>
            </a:avLst>
          </a:prstGeom>
          <a:solidFill>
            <a:srgbClr val="1B3149"/>
          </a:solidFill>
          <a:ln/>
        </p:spPr>
      </p:sp>
      <p:sp>
        <p:nvSpPr>
          <p:cNvPr id="34" name="Text 30"/>
          <p:cNvSpPr txBox="1"/>
          <p:nvPr/>
        </p:nvSpPr>
        <p:spPr>
          <a:xfrm>
            <a:off x="6464808" y="1938528"/>
            <a:ext cx="457200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SAFETY BY DESIGN</a:t>
            </a:r>
            <a:endParaRPr lang="en-US" sz="1500" dirty="0"/>
          </a:p>
        </p:txBody>
      </p:sp>
      <p:sp>
        <p:nvSpPr>
          <p:cNvPr id="35" name="Text 31"/>
          <p:cNvSpPr txBox="1"/>
          <p:nvPr/>
        </p:nvSpPr>
        <p:spPr>
          <a:xfrm>
            <a:off x="6464808" y="2514600"/>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SCREENING LABEL</a:t>
            </a:r>
            <a:endParaRPr lang="en-US" sz="750" dirty="0"/>
          </a:p>
        </p:txBody>
      </p:sp>
      <p:sp>
        <p:nvSpPr>
          <p:cNvPr id="36" name="Text 32"/>
          <p:cNvSpPr txBox="1"/>
          <p:nvPr/>
        </p:nvSpPr>
        <p:spPr>
          <a:xfrm>
            <a:off x="7918704" y="2487168"/>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Surge is shown as a screening estimate; defer to official guidance.</a:t>
            </a:r>
            <a:endParaRPr lang="en-US" sz="950" dirty="0"/>
          </a:p>
        </p:txBody>
      </p:sp>
      <p:sp>
        <p:nvSpPr>
          <p:cNvPr id="37" name="Text 33"/>
          <p:cNvSpPr txBox="1"/>
          <p:nvPr/>
        </p:nvSpPr>
        <p:spPr>
          <a:xfrm>
            <a:off x="6464808" y="3008376"/>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UNCERTAINTY</a:t>
            </a:r>
            <a:endParaRPr lang="en-US" sz="750" dirty="0"/>
          </a:p>
        </p:txBody>
      </p:sp>
      <p:sp>
        <p:nvSpPr>
          <p:cNvPr id="38" name="Text 34"/>
          <p:cNvSpPr txBox="1"/>
          <p:nvPr/>
        </p:nvSpPr>
        <p:spPr>
          <a:xfrm>
            <a:off x="7918704" y="2980944"/>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Track cone, expected vs high surge, and listed uncertainties.</a:t>
            </a:r>
            <a:endParaRPr lang="en-US" sz="950" dirty="0"/>
          </a:p>
        </p:txBody>
      </p:sp>
      <p:sp>
        <p:nvSpPr>
          <p:cNvPr id="39" name="Text 35"/>
          <p:cNvSpPr txBox="1"/>
          <p:nvPr/>
        </p:nvSpPr>
        <p:spPr>
          <a:xfrm>
            <a:off x="6464808" y="3502152"/>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WORDING</a:t>
            </a:r>
            <a:endParaRPr lang="en-US" sz="750" dirty="0"/>
          </a:p>
        </p:txBody>
      </p:sp>
      <p:sp>
        <p:nvSpPr>
          <p:cNvPr id="40" name="Text 36"/>
          <p:cNvSpPr txBox="1"/>
          <p:nvPr/>
        </p:nvSpPr>
        <p:spPr>
          <a:xfrm>
            <a:off x="7918704" y="3474720"/>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Odia/Bengali from pre-approved templates; back-translation for review.</a:t>
            </a:r>
            <a:endParaRPr lang="en-US" sz="950" dirty="0"/>
          </a:p>
        </p:txBody>
      </p:sp>
      <p:sp>
        <p:nvSpPr>
          <p:cNvPr id="41" name="Text 37"/>
          <p:cNvSpPr txBox="1"/>
          <p:nvPr/>
        </p:nvSpPr>
        <p:spPr>
          <a:xfrm>
            <a:off x="6464808" y="3995928"/>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MANDATORY FIELDS</a:t>
            </a:r>
            <a:endParaRPr lang="en-US" sz="750" dirty="0"/>
          </a:p>
        </p:txBody>
      </p:sp>
      <p:sp>
        <p:nvSpPr>
          <p:cNvPr id="42" name="Text 38"/>
          <p:cNvSpPr txBox="1"/>
          <p:nvPr/>
        </p:nvSpPr>
        <p:spPr>
          <a:xfrm>
            <a:off x="7918704" y="3968496"/>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What, where, when, action, shelter, authority, or rejected.</a:t>
            </a:r>
            <a:endParaRPr lang="en-US" sz="950" dirty="0"/>
          </a:p>
        </p:txBody>
      </p:sp>
      <p:sp>
        <p:nvSpPr>
          <p:cNvPr id="43" name="Text 39"/>
          <p:cNvSpPr txBox="1"/>
          <p:nvPr/>
        </p:nvSpPr>
        <p:spPr>
          <a:xfrm>
            <a:off x="6464808" y="4489704"/>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ACCESS</a:t>
            </a:r>
            <a:endParaRPr lang="en-US" sz="750" dirty="0"/>
          </a:p>
        </p:txBody>
      </p:sp>
      <p:sp>
        <p:nvSpPr>
          <p:cNvPr id="44" name="Text 40"/>
          <p:cNvSpPr txBox="1"/>
          <p:nvPr/>
        </p:nvSpPr>
        <p:spPr>
          <a:xfrm>
            <a:off x="7918704" y="4462272"/>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Two roles; district officers act only on their own district.</a:t>
            </a:r>
            <a:endParaRPr lang="en-US" sz="950" dirty="0"/>
          </a:p>
        </p:txBody>
      </p:sp>
      <p:sp>
        <p:nvSpPr>
          <p:cNvPr id="45" name="Text 41"/>
          <p:cNvSpPr txBox="1"/>
          <p:nvPr/>
        </p:nvSpPr>
        <p:spPr>
          <a:xfrm>
            <a:off x="6464808" y="4983480"/>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AUDIT</a:t>
            </a:r>
            <a:endParaRPr lang="en-US" sz="750" dirty="0"/>
          </a:p>
        </p:txBody>
      </p:sp>
      <p:sp>
        <p:nvSpPr>
          <p:cNvPr id="46" name="Text 42"/>
          <p:cNvSpPr txBox="1"/>
          <p:nvPr/>
        </p:nvSpPr>
        <p:spPr>
          <a:xfrm>
            <a:off x="7918704" y="4956048"/>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Append-only audit and dispatch logs streamed to BigQuery.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09 — OUTCOMES, VALIDATION &amp; SCALE</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Prove it in shadow mode before anyone relies on it.</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The first proof is earlier, better-targeted action, not app usage.</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Phases per PRD §50: district pilot → state → all coastal states → Bay of Bengal (Bangladesh, Myanmar, Sri Lanka). [5] NCRMP shelters and warning systems.</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10</a:t>
            </a:r>
            <a:endParaRPr lang="en-US" sz="650" dirty="0"/>
          </a:p>
        </p:txBody>
      </p:sp>
      <p:sp>
        <p:nvSpPr>
          <p:cNvPr id="15" name="Shape 11"/>
          <p:cNvSpPr/>
          <p:nvPr/>
        </p:nvSpPr>
        <p:spPr>
          <a:xfrm>
            <a:off x="621792" y="1737360"/>
            <a:ext cx="1673352" cy="1463040"/>
          </a:xfrm>
          <a:prstGeom prst="roundRect">
            <a:avLst>
              <a:gd name="adj" fmla="val 6250"/>
            </a:avLst>
          </a:prstGeom>
          <a:solidFill>
            <a:srgbClr val="FFFDF7"/>
          </a:solidFill>
          <a:ln w="9525">
            <a:solidFill>
              <a:srgbClr val="DCD5C5"/>
            </a:solidFill>
            <a:prstDash val="solid"/>
          </a:ln>
        </p:spPr>
      </p:sp>
      <p:sp>
        <p:nvSpPr>
          <p:cNvPr id="16" name="Text 12"/>
          <p:cNvSpPr txBox="1"/>
          <p:nvPr/>
        </p:nvSpPr>
        <p:spPr>
          <a:xfrm>
            <a:off x="75895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01</a:t>
            </a:r>
            <a:endParaRPr lang="en-US" sz="750" dirty="0"/>
          </a:p>
        </p:txBody>
      </p:sp>
      <p:sp>
        <p:nvSpPr>
          <p:cNvPr id="17" name="Text 13"/>
          <p:cNvSpPr txBox="1"/>
          <p:nvPr/>
        </p:nvSpPr>
        <p:spPr>
          <a:xfrm>
            <a:off x="69494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LEAD TIME</a:t>
            </a:r>
            <a:endParaRPr lang="en-US" sz="1050" dirty="0"/>
          </a:p>
        </p:txBody>
      </p:sp>
      <p:sp>
        <p:nvSpPr>
          <p:cNvPr id="18" name="Text 14"/>
          <p:cNvSpPr txBox="1"/>
          <p:nvPr/>
        </p:nvSpPr>
        <p:spPr>
          <a:xfrm>
            <a:off x="71323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Village-level warning 24–72 h out</a:t>
            </a:r>
            <a:endParaRPr lang="en-US" sz="850" dirty="0"/>
          </a:p>
        </p:txBody>
      </p:sp>
      <p:sp>
        <p:nvSpPr>
          <p:cNvPr id="19" name="Text 15"/>
          <p:cNvSpPr txBox="1"/>
          <p:nvPr/>
        </p:nvSpPr>
        <p:spPr>
          <a:xfrm>
            <a:off x="229514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20" name="Shape 16"/>
          <p:cNvSpPr/>
          <p:nvPr/>
        </p:nvSpPr>
        <p:spPr>
          <a:xfrm>
            <a:off x="2542032" y="1737360"/>
            <a:ext cx="1673352" cy="1463040"/>
          </a:xfrm>
          <a:prstGeom prst="roundRect">
            <a:avLst>
              <a:gd name="adj" fmla="val 6250"/>
            </a:avLst>
          </a:prstGeom>
          <a:solidFill>
            <a:srgbClr val="FFFDF7"/>
          </a:solidFill>
          <a:ln w="9525">
            <a:solidFill>
              <a:srgbClr val="DCD5C5"/>
            </a:solidFill>
            <a:prstDash val="solid"/>
          </a:ln>
        </p:spPr>
      </p:sp>
      <p:sp>
        <p:nvSpPr>
          <p:cNvPr id="21" name="Text 17"/>
          <p:cNvSpPr txBox="1"/>
          <p:nvPr/>
        </p:nvSpPr>
        <p:spPr>
          <a:xfrm>
            <a:off x="267919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02</a:t>
            </a:r>
            <a:endParaRPr lang="en-US" sz="750" dirty="0"/>
          </a:p>
        </p:txBody>
      </p:sp>
      <p:sp>
        <p:nvSpPr>
          <p:cNvPr id="22" name="Text 18"/>
          <p:cNvSpPr txBox="1"/>
          <p:nvPr/>
        </p:nvSpPr>
        <p:spPr>
          <a:xfrm>
            <a:off x="261518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TARGETING</a:t>
            </a:r>
            <a:endParaRPr lang="en-US" sz="1050" dirty="0"/>
          </a:p>
        </p:txBody>
      </p:sp>
      <p:sp>
        <p:nvSpPr>
          <p:cNvPr id="23" name="Text 19"/>
          <p:cNvSpPr txBox="1"/>
          <p:nvPr/>
        </p:nvSpPr>
        <p:spPr>
          <a:xfrm>
            <a:off x="263347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Highest-risk villages move first</a:t>
            </a:r>
            <a:endParaRPr lang="en-US" sz="850" dirty="0"/>
          </a:p>
        </p:txBody>
      </p:sp>
      <p:sp>
        <p:nvSpPr>
          <p:cNvPr id="24" name="Text 20"/>
          <p:cNvSpPr txBox="1"/>
          <p:nvPr/>
        </p:nvSpPr>
        <p:spPr>
          <a:xfrm>
            <a:off x="421538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25" name="Shape 21"/>
          <p:cNvSpPr/>
          <p:nvPr/>
        </p:nvSpPr>
        <p:spPr>
          <a:xfrm>
            <a:off x="4462272" y="1737360"/>
            <a:ext cx="1673352" cy="1463040"/>
          </a:xfrm>
          <a:prstGeom prst="roundRect">
            <a:avLst>
              <a:gd name="adj" fmla="val 6250"/>
            </a:avLst>
          </a:prstGeom>
          <a:solidFill>
            <a:srgbClr val="DCEEE8"/>
          </a:solidFill>
          <a:ln w="9525">
            <a:solidFill>
              <a:srgbClr val="12796D"/>
            </a:solidFill>
            <a:prstDash val="solid"/>
          </a:ln>
        </p:spPr>
      </p:sp>
      <p:sp>
        <p:nvSpPr>
          <p:cNvPr id="26" name="Text 22"/>
          <p:cNvSpPr txBox="1"/>
          <p:nvPr/>
        </p:nvSpPr>
        <p:spPr>
          <a:xfrm>
            <a:off x="459943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03</a:t>
            </a:r>
            <a:endParaRPr lang="en-US" sz="750" dirty="0"/>
          </a:p>
        </p:txBody>
      </p:sp>
      <p:sp>
        <p:nvSpPr>
          <p:cNvPr id="27" name="Text 23"/>
          <p:cNvSpPr txBox="1"/>
          <p:nvPr/>
        </p:nvSpPr>
        <p:spPr>
          <a:xfrm>
            <a:off x="453542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REACH</a:t>
            </a:r>
            <a:endParaRPr lang="en-US" sz="1050" dirty="0"/>
          </a:p>
        </p:txBody>
      </p:sp>
      <p:sp>
        <p:nvSpPr>
          <p:cNvPr id="28" name="Text 24"/>
          <p:cNvSpPr txBox="1"/>
          <p:nvPr/>
        </p:nvSpPr>
        <p:spPr>
          <a:xfrm>
            <a:off x="455371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Warnings in the local language</a:t>
            </a:r>
            <a:endParaRPr lang="en-US" sz="850" dirty="0"/>
          </a:p>
        </p:txBody>
      </p:sp>
      <p:sp>
        <p:nvSpPr>
          <p:cNvPr id="29" name="Text 25"/>
          <p:cNvSpPr txBox="1"/>
          <p:nvPr/>
        </p:nvSpPr>
        <p:spPr>
          <a:xfrm>
            <a:off x="613562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30" name="Shape 26"/>
          <p:cNvSpPr/>
          <p:nvPr/>
        </p:nvSpPr>
        <p:spPr>
          <a:xfrm>
            <a:off x="6382512" y="1737360"/>
            <a:ext cx="1673352" cy="1463040"/>
          </a:xfrm>
          <a:prstGeom prst="roundRect">
            <a:avLst>
              <a:gd name="adj" fmla="val 6250"/>
            </a:avLst>
          </a:prstGeom>
          <a:solidFill>
            <a:srgbClr val="FFFDF7"/>
          </a:solidFill>
          <a:ln w="9525">
            <a:solidFill>
              <a:srgbClr val="DCD5C5"/>
            </a:solidFill>
            <a:prstDash val="solid"/>
          </a:ln>
        </p:spPr>
      </p:sp>
      <p:sp>
        <p:nvSpPr>
          <p:cNvPr id="31" name="Text 27"/>
          <p:cNvSpPr txBox="1"/>
          <p:nvPr/>
        </p:nvSpPr>
        <p:spPr>
          <a:xfrm>
            <a:off x="651967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04</a:t>
            </a:r>
            <a:endParaRPr lang="en-US" sz="750" dirty="0"/>
          </a:p>
        </p:txBody>
      </p:sp>
      <p:sp>
        <p:nvSpPr>
          <p:cNvPr id="32" name="Text 28"/>
          <p:cNvSpPr txBox="1"/>
          <p:nvPr/>
        </p:nvSpPr>
        <p:spPr>
          <a:xfrm>
            <a:off x="645566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LIQUIDITY</a:t>
            </a:r>
            <a:endParaRPr lang="en-US" sz="1050" dirty="0"/>
          </a:p>
        </p:txBody>
      </p:sp>
      <p:sp>
        <p:nvSpPr>
          <p:cNvPr id="33" name="Text 29"/>
          <p:cNvSpPr txBox="1"/>
          <p:nvPr/>
        </p:nvSpPr>
        <p:spPr>
          <a:xfrm>
            <a:off x="647395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Funds prepared before landfall</a:t>
            </a:r>
            <a:endParaRPr lang="en-US" sz="850" dirty="0"/>
          </a:p>
        </p:txBody>
      </p:sp>
      <p:sp>
        <p:nvSpPr>
          <p:cNvPr id="34" name="Shape 30"/>
          <p:cNvSpPr/>
          <p:nvPr/>
        </p:nvSpPr>
        <p:spPr>
          <a:xfrm>
            <a:off x="8366760" y="1737360"/>
            <a:ext cx="3227832" cy="1463040"/>
          </a:xfrm>
          <a:prstGeom prst="roundRect">
            <a:avLst>
              <a:gd name="adj" fmla="val 5000"/>
            </a:avLst>
          </a:prstGeom>
          <a:solidFill>
            <a:srgbClr val="1B3149"/>
          </a:solidFill>
          <a:ln/>
        </p:spPr>
      </p:sp>
      <p:sp>
        <p:nvSpPr>
          <p:cNvPr id="35" name="Text 31"/>
          <p:cNvSpPr txBox="1"/>
          <p:nvPr/>
        </p:nvSpPr>
        <p:spPr>
          <a:xfrm>
            <a:off x="8622792" y="1956816"/>
            <a:ext cx="2743200" cy="137160"/>
          </a:xfrm>
          <a:prstGeom prst="rect">
            <a:avLst/>
          </a:prstGeom>
          <a:noFill/>
          <a:ln/>
        </p:spPr>
        <p:txBody>
          <a:bodyPr wrap="square" lIns="0" tIns="0" rIns="0" bIns="0" rtlCol="0" anchor="t"/>
          <a:lstStyle/>
          <a:p>
            <a:pPr indent="0" marL="0">
              <a:buNone/>
            </a:pPr>
            <a:r>
              <a:rPr lang="en-US" sz="750" b="1" dirty="0">
                <a:solidFill>
                  <a:srgbClr val="9ED8CC"/>
                </a:solidFill>
                <a:latin typeface="Arial" pitchFamily="34" charset="0"/>
                <a:ea typeface="Arial" pitchFamily="34" charset="-122"/>
                <a:cs typeface="Arial" pitchFamily="34" charset="-120"/>
              </a:rPr>
              <a:t>MEASURE WITH</a:t>
            </a:r>
            <a:endParaRPr lang="en-US" sz="750" dirty="0"/>
          </a:p>
        </p:txBody>
      </p:sp>
      <p:sp>
        <p:nvSpPr>
          <p:cNvPr id="36" name="Text 32"/>
          <p:cNvSpPr txBox="1"/>
          <p:nvPr/>
        </p:nvSpPr>
        <p:spPr>
          <a:xfrm>
            <a:off x="8622792" y="2240280"/>
            <a:ext cx="2788920" cy="868680"/>
          </a:xfrm>
          <a:prstGeom prst="rect">
            <a:avLst/>
          </a:prstGeom>
          <a:noFill/>
          <a:ln/>
        </p:spPr>
        <p:txBody>
          <a:bodyPr wrap="square" lIns="0" tIns="0" rIns="0" bIns="0" rtlCol="0" anchor="t">
            <a:normAutofit/>
          </a:bodyPr>
          <a:lstStyle/>
          <a:p>
            <a:pPr indent="0" marL="0">
              <a:buNone/>
            </a:pPr>
            <a:r>
              <a:rPr lang="en-US" sz="950" b="1" dirty="0">
                <a:solidFill>
                  <a:srgbClr val="FFFFFF"/>
                </a:solidFill>
                <a:latin typeface="Arial" pitchFamily="34" charset="0"/>
                <a:ea typeface="Arial" pitchFamily="34" charset="-122"/>
                <a:cs typeface="Arial" pitchFamily="34" charset="-120"/>
              </a:rPr>
              <a:t>Predicted vs observed flooding</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Warning lead time per village</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Advisory delivery success</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Trigger hit/miss on past cyclones</a:t>
            </a:r>
            <a:endParaRPr lang="en-US" sz="950" dirty="0"/>
          </a:p>
        </p:txBody>
      </p:sp>
      <p:sp>
        <p:nvSpPr>
          <p:cNvPr id="37" name="Text 33"/>
          <p:cNvSpPr txBox="1"/>
          <p:nvPr/>
        </p:nvSpPr>
        <p:spPr>
          <a:xfrm>
            <a:off x="640080" y="3675888"/>
            <a:ext cx="3657600" cy="146304"/>
          </a:xfrm>
          <a:prstGeom prst="rect">
            <a:avLst/>
          </a:prstGeom>
          <a:noFill/>
          <a:ln/>
        </p:spPr>
        <p:txBody>
          <a:bodyPr wrap="square" lIns="0" tIns="0" rIns="0" bIns="0" rtlCol="0" anchor="t"/>
          <a:lstStyle/>
          <a:p>
            <a:pPr indent="0" marL="0">
              <a:buNone/>
            </a:pPr>
            <a:r>
              <a:rPr lang="en-US" sz="800" b="1" dirty="0">
                <a:solidFill>
                  <a:srgbClr val="12796D"/>
                </a:solidFill>
                <a:latin typeface="Arial" pitchFamily="34" charset="0"/>
                <a:ea typeface="Arial" pitchFamily="34" charset="-122"/>
                <a:cs typeface="Arial" pitchFamily="34" charset="-120"/>
              </a:rPr>
              <a:t>VALIDATION GATES</a:t>
            </a:r>
            <a:endParaRPr lang="en-US" sz="800" dirty="0"/>
          </a:p>
        </p:txBody>
      </p:sp>
      <p:sp>
        <p:nvSpPr>
          <p:cNvPr id="38" name="Shape 34"/>
          <p:cNvSpPr/>
          <p:nvPr/>
        </p:nvSpPr>
        <p:spPr>
          <a:xfrm>
            <a:off x="640080" y="4005072"/>
            <a:ext cx="2286000" cy="1051560"/>
          </a:xfrm>
          <a:prstGeom prst="roundRect">
            <a:avLst>
              <a:gd name="adj" fmla="val 6957"/>
            </a:avLst>
          </a:prstGeom>
          <a:solidFill>
            <a:srgbClr val="FFFDF7"/>
          </a:solidFill>
          <a:ln w="9525">
            <a:solidFill>
              <a:srgbClr val="DCD5C5"/>
            </a:solidFill>
            <a:prstDash val="solid"/>
          </a:ln>
        </p:spPr>
      </p:sp>
      <p:sp>
        <p:nvSpPr>
          <p:cNvPr id="39" name="Shape 35"/>
          <p:cNvSpPr/>
          <p:nvPr/>
        </p:nvSpPr>
        <p:spPr>
          <a:xfrm>
            <a:off x="768096" y="4160520"/>
            <a:ext cx="393192" cy="393192"/>
          </a:xfrm>
          <a:prstGeom prst="ellipse">
            <a:avLst/>
          </a:prstGeom>
          <a:solidFill>
            <a:srgbClr val="12796D"/>
          </a:solidFill>
          <a:ln/>
        </p:spPr>
      </p:sp>
      <p:sp>
        <p:nvSpPr>
          <p:cNvPr id="40" name="Text 36"/>
          <p:cNvSpPr txBox="1"/>
          <p:nvPr/>
        </p:nvSpPr>
        <p:spPr>
          <a:xfrm>
            <a:off x="7680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41" name="Text 37"/>
          <p:cNvSpPr txBox="1"/>
          <p:nvPr/>
        </p:nvSpPr>
        <p:spPr>
          <a:xfrm>
            <a:off x="12801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TABLETOP</a:t>
            </a:r>
            <a:endParaRPr lang="en-US" sz="850" dirty="0"/>
          </a:p>
        </p:txBody>
      </p:sp>
      <p:sp>
        <p:nvSpPr>
          <p:cNvPr id="42" name="Text 38"/>
          <p:cNvSpPr txBox="1"/>
          <p:nvPr/>
        </p:nvSpPr>
        <p:spPr>
          <a:xfrm>
            <a:off x="12801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Replay Fani and Amphan with DDMA staff; score actionability</a:t>
            </a:r>
            <a:endParaRPr lang="en-US" sz="800" dirty="0"/>
          </a:p>
        </p:txBody>
      </p:sp>
      <p:sp>
        <p:nvSpPr>
          <p:cNvPr id="43" name="Shape 39"/>
          <p:cNvSpPr/>
          <p:nvPr/>
        </p:nvSpPr>
        <p:spPr>
          <a:xfrm>
            <a:off x="3154680" y="4005072"/>
            <a:ext cx="2286000" cy="1051560"/>
          </a:xfrm>
          <a:prstGeom prst="roundRect">
            <a:avLst>
              <a:gd name="adj" fmla="val 6957"/>
            </a:avLst>
          </a:prstGeom>
          <a:solidFill>
            <a:srgbClr val="FFFDF7"/>
          </a:solidFill>
          <a:ln w="9525">
            <a:solidFill>
              <a:srgbClr val="DCD5C5"/>
            </a:solidFill>
            <a:prstDash val="solid"/>
          </a:ln>
        </p:spPr>
      </p:sp>
      <p:sp>
        <p:nvSpPr>
          <p:cNvPr id="44" name="Shape 40"/>
          <p:cNvSpPr/>
          <p:nvPr/>
        </p:nvSpPr>
        <p:spPr>
          <a:xfrm>
            <a:off x="3282696" y="4160520"/>
            <a:ext cx="393192" cy="393192"/>
          </a:xfrm>
          <a:prstGeom prst="ellipse">
            <a:avLst/>
          </a:prstGeom>
          <a:solidFill>
            <a:srgbClr val="12796D"/>
          </a:solidFill>
          <a:ln/>
        </p:spPr>
      </p:sp>
      <p:sp>
        <p:nvSpPr>
          <p:cNvPr id="45" name="Text 41"/>
          <p:cNvSpPr txBox="1"/>
          <p:nvPr/>
        </p:nvSpPr>
        <p:spPr>
          <a:xfrm>
            <a:off x="32826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6" name="Text 42"/>
          <p:cNvSpPr txBox="1"/>
          <p:nvPr/>
        </p:nvSpPr>
        <p:spPr>
          <a:xfrm>
            <a:off x="37947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SHADOW SEASON</a:t>
            </a:r>
            <a:endParaRPr lang="en-US" sz="850" dirty="0"/>
          </a:p>
        </p:txBody>
      </p:sp>
      <p:sp>
        <p:nvSpPr>
          <p:cNvPr id="47" name="Text 43"/>
          <p:cNvSpPr txBox="1"/>
          <p:nvPr/>
        </p:nvSpPr>
        <p:spPr>
          <a:xfrm>
            <a:off x="37947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Run beside the official process, Oct–Dec peak; no public alerts</a:t>
            </a:r>
            <a:endParaRPr lang="en-US" sz="800" dirty="0"/>
          </a:p>
        </p:txBody>
      </p:sp>
      <p:sp>
        <p:nvSpPr>
          <p:cNvPr id="48" name="Shape 44"/>
          <p:cNvSpPr/>
          <p:nvPr/>
        </p:nvSpPr>
        <p:spPr>
          <a:xfrm>
            <a:off x="5669280" y="4005072"/>
            <a:ext cx="2286000" cy="1051560"/>
          </a:xfrm>
          <a:prstGeom prst="roundRect">
            <a:avLst>
              <a:gd name="adj" fmla="val 6957"/>
            </a:avLst>
          </a:prstGeom>
          <a:solidFill>
            <a:srgbClr val="FFFDF7"/>
          </a:solidFill>
          <a:ln w="9525">
            <a:solidFill>
              <a:srgbClr val="DCD5C5"/>
            </a:solidFill>
            <a:prstDash val="solid"/>
          </a:ln>
        </p:spPr>
      </p:sp>
      <p:sp>
        <p:nvSpPr>
          <p:cNvPr id="49" name="Shape 45"/>
          <p:cNvSpPr/>
          <p:nvPr/>
        </p:nvSpPr>
        <p:spPr>
          <a:xfrm>
            <a:off x="5797296" y="4160520"/>
            <a:ext cx="393192" cy="393192"/>
          </a:xfrm>
          <a:prstGeom prst="ellipse">
            <a:avLst/>
          </a:prstGeom>
          <a:solidFill>
            <a:srgbClr val="E8694A"/>
          </a:solidFill>
          <a:ln/>
        </p:spPr>
      </p:sp>
      <p:sp>
        <p:nvSpPr>
          <p:cNvPr id="50" name="Text 46"/>
          <p:cNvSpPr txBox="1"/>
          <p:nvPr/>
        </p:nvSpPr>
        <p:spPr>
          <a:xfrm>
            <a:off x="57972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51" name="Text 47"/>
          <p:cNvSpPr txBox="1"/>
          <p:nvPr/>
        </p:nvSpPr>
        <p:spPr>
          <a:xfrm>
            <a:off x="63093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CLAIM CAREFULLY</a:t>
            </a:r>
            <a:endParaRPr lang="en-US" sz="850" dirty="0"/>
          </a:p>
        </p:txBody>
      </p:sp>
      <p:sp>
        <p:nvSpPr>
          <p:cNvPr id="52" name="Text 48"/>
          <p:cNvSpPr txBox="1"/>
          <p:nvPr/>
        </p:nvSpPr>
        <p:spPr>
          <a:xfrm>
            <a:off x="63093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Sample replay: hit rate 1.0, false-alarm ratio 0.5; not a field result</a:t>
            </a:r>
            <a:endParaRPr lang="en-US" sz="800" dirty="0"/>
          </a:p>
        </p:txBody>
      </p:sp>
      <p:sp>
        <p:nvSpPr>
          <p:cNvPr id="53" name="Shape 49"/>
          <p:cNvSpPr/>
          <p:nvPr/>
        </p:nvSpPr>
        <p:spPr>
          <a:xfrm>
            <a:off x="658368" y="5431536"/>
            <a:ext cx="1078992" cy="310896"/>
          </a:xfrm>
          <a:prstGeom prst="roundRect">
            <a:avLst>
              <a:gd name="adj" fmla="val 23529"/>
            </a:avLst>
          </a:prstGeom>
          <a:solidFill>
            <a:srgbClr val="E8694A"/>
          </a:solidFill>
          <a:ln/>
        </p:spPr>
      </p:sp>
      <p:sp>
        <p:nvSpPr>
          <p:cNvPr id="54" name="Text 50"/>
          <p:cNvSpPr txBox="1"/>
          <p:nvPr/>
        </p:nvSpPr>
        <p:spPr>
          <a:xfrm>
            <a:off x="658368" y="5431536"/>
            <a:ext cx="1078992"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BUDGET ROUTE</a:t>
            </a:r>
            <a:endParaRPr lang="en-US" sz="700" dirty="0"/>
          </a:p>
        </p:txBody>
      </p:sp>
      <p:sp>
        <p:nvSpPr>
          <p:cNvPr id="55" name="Text 51"/>
          <p:cNvSpPr txBox="1"/>
          <p:nvPr/>
        </p:nvSpPr>
        <p:spPr>
          <a:xfrm>
            <a:off x="1901952" y="5358384"/>
            <a:ext cx="6035040" cy="457200"/>
          </a:xfrm>
          <a:prstGeom prst="rect">
            <a:avLst/>
          </a:prstGeom>
          <a:noFill/>
          <a:ln/>
        </p:spPr>
        <p:txBody>
          <a:bodyPr wrap="square" lIns="0" tIns="0" rIns="0" bIns="0" rtlCol="0" anchor="ctr">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Candidate: SDMF / SDRF preparedness and capacity-building windows under XV-FC guidelines; confirm with the SDMA. [8]</a:t>
            </a:r>
            <a:endParaRPr lang="en-US" sz="1100" dirty="0"/>
          </a:p>
        </p:txBody>
      </p:sp>
      <p:sp>
        <p:nvSpPr>
          <p:cNvPr id="56" name="Shape 52"/>
          <p:cNvSpPr/>
          <p:nvPr/>
        </p:nvSpPr>
        <p:spPr>
          <a:xfrm>
            <a:off x="8366760" y="3657600"/>
            <a:ext cx="3227832" cy="1993392"/>
          </a:xfrm>
          <a:prstGeom prst="roundRect">
            <a:avLst>
              <a:gd name="adj" fmla="val 3670"/>
            </a:avLst>
          </a:prstGeom>
          <a:solidFill>
            <a:srgbClr val="DCEEE8"/>
          </a:solidFill>
          <a:ln w="9525">
            <a:solidFill>
              <a:srgbClr val="12796D"/>
            </a:solidFill>
            <a:prstDash val="solid"/>
          </a:ln>
        </p:spPr>
      </p:sp>
      <p:sp>
        <p:nvSpPr>
          <p:cNvPr id="57" name="Text 53"/>
          <p:cNvSpPr txBox="1"/>
          <p:nvPr/>
        </p:nvSpPr>
        <p:spPr>
          <a:xfrm>
            <a:off x="8622792" y="3867912"/>
            <a:ext cx="2743200" cy="228600"/>
          </a:xfrm>
          <a:prstGeom prst="rect">
            <a:avLst/>
          </a:prstGeom>
          <a:noFill/>
          <a:ln/>
        </p:spPr>
        <p:txBody>
          <a:bodyPr wrap="square" lIns="0" tIns="0" rIns="0" bIns="0" rtlCol="0" anchor="t">
            <a:normAutofit/>
          </a:bodyPr>
          <a:lstStyle/>
          <a:p>
            <a:pPr indent="0" marL="0">
              <a:buNone/>
            </a:pPr>
            <a:r>
              <a:rPr lang="en-US" sz="1200" b="1" dirty="0">
                <a:solidFill>
                  <a:srgbClr val="12796D"/>
                </a:solidFill>
                <a:latin typeface="Arial" pitchFamily="34" charset="0"/>
                <a:ea typeface="Arial" pitchFamily="34" charset="-122"/>
                <a:cs typeface="Arial" pitchFamily="34" charset="-120"/>
              </a:rPr>
              <a:t>OWNERSHIP + SCALE</a:t>
            </a:r>
            <a:endParaRPr lang="en-US" sz="1200" dirty="0"/>
          </a:p>
        </p:txBody>
      </p:sp>
      <p:sp>
        <p:nvSpPr>
          <p:cNvPr id="58" name="Text 54"/>
          <p:cNvSpPr txBox="1"/>
          <p:nvPr/>
        </p:nvSpPr>
        <p:spPr>
          <a:xfrm>
            <a:off x="8622792" y="4343400"/>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Owner</a:t>
            </a:r>
            <a:endParaRPr lang="en-US" sz="850" dirty="0"/>
          </a:p>
        </p:txBody>
      </p:sp>
      <p:sp>
        <p:nvSpPr>
          <p:cNvPr id="59" name="Text 55"/>
          <p:cNvSpPr txBox="1"/>
          <p:nvPr/>
        </p:nvSpPr>
        <p:spPr>
          <a:xfrm>
            <a:off x="9418320" y="4315968"/>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State SDMA (e.g. OSDMA) + DDMAs</a:t>
            </a:r>
            <a:endParaRPr lang="en-US" sz="850" dirty="0"/>
          </a:p>
        </p:txBody>
      </p:sp>
      <p:sp>
        <p:nvSpPr>
          <p:cNvPr id="60" name="Text 56"/>
          <p:cNvSpPr txBox="1"/>
          <p:nvPr/>
        </p:nvSpPr>
        <p:spPr>
          <a:xfrm>
            <a:off x="8622792" y="4773168"/>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Channel</a:t>
            </a:r>
            <a:endParaRPr lang="en-US" sz="850" dirty="0"/>
          </a:p>
        </p:txBody>
      </p:sp>
      <p:sp>
        <p:nvSpPr>
          <p:cNvPr id="61" name="Text 57"/>
          <p:cNvSpPr txBox="1"/>
          <p:nvPr/>
        </p:nvSpPr>
        <p:spPr>
          <a:xfrm>
            <a:off x="9418320" y="4745736"/>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State EOC → DDMAs; CAP to NDMA gateway [3]</a:t>
            </a:r>
            <a:endParaRPr lang="en-US" sz="850" dirty="0"/>
          </a:p>
        </p:txBody>
      </p:sp>
      <p:sp>
        <p:nvSpPr>
          <p:cNvPr id="62" name="Text 58"/>
          <p:cNvSpPr txBox="1"/>
          <p:nvPr/>
        </p:nvSpPr>
        <p:spPr>
          <a:xfrm>
            <a:off x="8622792" y="5202936"/>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Gate</a:t>
            </a:r>
            <a:endParaRPr lang="en-US" sz="850" dirty="0"/>
          </a:p>
        </p:txBody>
      </p:sp>
      <p:sp>
        <p:nvSpPr>
          <p:cNvPr id="63" name="Text 59"/>
          <p:cNvSpPr txBox="1"/>
          <p:nvPr/>
        </p:nvSpPr>
        <p:spPr>
          <a:xfrm>
            <a:off x="9418320" y="5175504"/>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Official surge feed • language review • data MoU</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10 — LIVE PROTOTYPE</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Working today, end to end.</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Two dashboards and one API on Cloud Run (asia-south1). Replays: Odisha / Fani 2019 and West Bengal / Amphan 2020.</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Screenshots from the running app (30 Sep 2026, replay sample data). A new state joins by a JSON adapter, not a code fork.</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11</a:t>
            </a:r>
            <a:endParaRPr lang="en-US" sz="650" dirty="0"/>
          </a:p>
        </p:txBody>
      </p:sp>
      <p:sp>
        <p:nvSpPr>
          <p:cNvPr id="15" name="Shape 11"/>
          <p:cNvSpPr/>
          <p:nvPr/>
        </p:nvSpPr>
        <p:spPr>
          <a:xfrm>
            <a:off x="621792" y="1700784"/>
            <a:ext cx="2788920" cy="2331720"/>
          </a:xfrm>
          <a:prstGeom prst="roundRect">
            <a:avLst>
              <a:gd name="adj" fmla="val 2353"/>
            </a:avLst>
          </a:prstGeom>
          <a:solidFill>
            <a:srgbClr val="FFFFFF"/>
          </a:solidFill>
          <a:ln w="9525">
            <a:solidFill>
              <a:srgbClr val="DCD5C5"/>
            </a:solidFill>
            <a:prstDash val="solid"/>
          </a:ln>
        </p:spPr>
      </p:sp>
      <p:pic>
        <p:nvPicPr>
          <p:cNvPr id="16" name="Image 1" descr="/Users/pavan/Documents/Code/Build_with_AI/cyclone-risk-network/docs/pitch/assets/screen-district-dashboard.jpg">    </p:cNvPr>
          <p:cNvPicPr>
            <a:picLocks noChangeAspect="1"/>
          </p:cNvPicPr>
          <p:nvPr/>
        </p:nvPicPr>
        <p:blipFill>
          <a:blip r:embed="rId2"/>
          <a:srcRect l="0" r="0" t="0" b="0"/>
          <a:stretch/>
        </p:blipFill>
        <p:spPr>
          <a:xfrm>
            <a:off x="676656" y="1755648"/>
            <a:ext cx="2679192" cy="1920240"/>
          </a:xfrm>
          <a:prstGeom prst="rect">
            <a:avLst/>
          </a:prstGeom>
        </p:spPr>
      </p:pic>
      <p:sp>
        <p:nvSpPr>
          <p:cNvPr id="17" name="Text 12"/>
          <p:cNvSpPr txBox="1"/>
          <p:nvPr/>
        </p:nvSpPr>
        <p:spPr>
          <a:xfrm>
            <a:off x="731520" y="3721608"/>
            <a:ext cx="2560320" cy="256032"/>
          </a:xfrm>
          <a:prstGeom prst="rect">
            <a:avLst/>
          </a:prstGeom>
          <a:noFill/>
          <a:ln/>
        </p:spPr>
        <p:txBody>
          <a:bodyPr wrap="square" lIns="0" tIns="0" rIns="0" bIns="0" rtlCol="0" anchor="t">
            <a:normAutofit/>
          </a:bodyPr>
          <a:lstStyle/>
          <a:p>
            <a:pPr algn="ctr" indent="0" marL="0">
              <a:buNone/>
            </a:pPr>
            <a:r>
              <a:rPr lang="en-US" sz="900" b="1" dirty="0">
                <a:solidFill>
                  <a:srgbClr val="1B3149"/>
                </a:solidFill>
                <a:latin typeface="Arial" pitchFamily="34" charset="0"/>
                <a:ea typeface="Arial" pitchFamily="34" charset="-122"/>
                <a:cs typeface="Arial" pitchFamily="34" charset="-120"/>
              </a:rPr>
              <a:t>District dashboard: map + Gemini sitrep</a:t>
            </a:r>
            <a:endParaRPr lang="en-US" sz="900" dirty="0"/>
          </a:p>
        </p:txBody>
      </p:sp>
      <p:sp>
        <p:nvSpPr>
          <p:cNvPr id="18" name="Shape 13"/>
          <p:cNvSpPr/>
          <p:nvPr/>
        </p:nvSpPr>
        <p:spPr>
          <a:xfrm>
            <a:off x="3593592" y="1700784"/>
            <a:ext cx="2788920" cy="2331720"/>
          </a:xfrm>
          <a:prstGeom prst="roundRect">
            <a:avLst>
              <a:gd name="adj" fmla="val 2353"/>
            </a:avLst>
          </a:prstGeom>
          <a:solidFill>
            <a:srgbClr val="FFFFFF"/>
          </a:solidFill>
          <a:ln w="9525">
            <a:solidFill>
              <a:srgbClr val="DCD5C5"/>
            </a:solidFill>
            <a:prstDash val="solid"/>
          </a:ln>
        </p:spPr>
      </p:sp>
      <p:pic>
        <p:nvPicPr>
          <p:cNvPr id="19" name="Image 2" descr="/Users/pavan/Documents/Code/Build_with_AI/cyclone-risk-network/docs/pitch/assets/screen-state-eoc.jpg">    </p:cNvPr>
          <p:cNvPicPr>
            <a:picLocks noChangeAspect="1"/>
          </p:cNvPicPr>
          <p:nvPr/>
        </p:nvPicPr>
        <p:blipFill>
          <a:blip r:embed="rId3"/>
          <a:srcRect l="0" r="0" t="0" b="0"/>
          <a:stretch/>
        </p:blipFill>
        <p:spPr>
          <a:xfrm>
            <a:off x="3648456" y="1755648"/>
            <a:ext cx="2679192" cy="1920240"/>
          </a:xfrm>
          <a:prstGeom prst="rect">
            <a:avLst/>
          </a:prstGeom>
        </p:spPr>
      </p:pic>
      <p:sp>
        <p:nvSpPr>
          <p:cNvPr id="20" name="Text 14"/>
          <p:cNvSpPr txBox="1"/>
          <p:nvPr/>
        </p:nvSpPr>
        <p:spPr>
          <a:xfrm>
            <a:off x="3703320" y="3721608"/>
            <a:ext cx="2560320" cy="256032"/>
          </a:xfrm>
          <a:prstGeom prst="rect">
            <a:avLst/>
          </a:prstGeom>
          <a:noFill/>
          <a:ln/>
        </p:spPr>
        <p:txBody>
          <a:bodyPr wrap="square" lIns="0" tIns="0" rIns="0" bIns="0" rtlCol="0" anchor="t">
            <a:normAutofit/>
          </a:bodyPr>
          <a:lstStyle/>
          <a:p>
            <a:pPr algn="ctr" indent="0" marL="0">
              <a:buNone/>
            </a:pPr>
            <a:r>
              <a:rPr lang="en-US" sz="900" b="1" dirty="0">
                <a:solidFill>
                  <a:srgbClr val="1B3149"/>
                </a:solidFill>
                <a:latin typeface="Arial" pitchFamily="34" charset="0"/>
                <a:ea typeface="Arial" pitchFamily="34" charset="-122"/>
                <a:cs typeface="Arial" pitchFamily="34" charset="-120"/>
              </a:rPr>
              <a:t>State EOC: district and block comparison</a:t>
            </a:r>
            <a:endParaRPr lang="en-US" sz="900" dirty="0"/>
          </a:p>
        </p:txBody>
      </p:sp>
      <p:sp>
        <p:nvSpPr>
          <p:cNvPr id="21" name="Shape 15"/>
          <p:cNvSpPr/>
          <p:nvPr/>
        </p:nvSpPr>
        <p:spPr>
          <a:xfrm>
            <a:off x="621792" y="4297680"/>
            <a:ext cx="5760720" cy="1755648"/>
          </a:xfrm>
          <a:prstGeom prst="roundRect">
            <a:avLst>
              <a:gd name="adj" fmla="val 4167"/>
            </a:avLst>
          </a:prstGeom>
          <a:solidFill>
            <a:srgbClr val="1B3149"/>
          </a:solidFill>
          <a:ln/>
        </p:spPr>
      </p:sp>
      <p:sp>
        <p:nvSpPr>
          <p:cNvPr id="22" name="Text 16"/>
          <p:cNvSpPr txBox="1"/>
          <p:nvPr/>
        </p:nvSpPr>
        <p:spPr>
          <a:xfrm>
            <a:off x="896112" y="4480560"/>
            <a:ext cx="4572000" cy="182880"/>
          </a:xfrm>
          <a:prstGeom prst="rect">
            <a:avLst/>
          </a:prstGeom>
          <a:noFill/>
          <a:ln/>
        </p:spPr>
        <p:txBody>
          <a:bodyPr wrap="square" lIns="0" tIns="0" rIns="0" bIns="0" rtlCol="0" anchor="t"/>
          <a:lstStyle/>
          <a:p>
            <a:pPr indent="0" marL="0">
              <a:buNone/>
            </a:pPr>
            <a:r>
              <a:rPr lang="en-US" sz="850" b="1" spc="200" kern="0" dirty="0">
                <a:solidFill>
                  <a:srgbClr val="9ED8CC"/>
                </a:solidFill>
                <a:latin typeface="Arial" pitchFamily="34" charset="0"/>
                <a:ea typeface="Arial" pitchFamily="34" charset="-122"/>
                <a:cs typeface="Arial" pitchFamily="34" charset="-120"/>
              </a:rPr>
              <a:t>TRY IT</a:t>
            </a:r>
            <a:endParaRPr lang="en-US" sz="850" dirty="0"/>
          </a:p>
        </p:txBody>
      </p:sp>
      <p:sp>
        <p:nvSpPr>
          <p:cNvPr id="23" name="Text 17"/>
          <p:cNvSpPr txBox="1"/>
          <p:nvPr/>
        </p:nvSpPr>
        <p:spPr>
          <a:xfrm>
            <a:off x="896112" y="4773168"/>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District dashboard</a:t>
            </a:r>
            <a:endParaRPr lang="en-US" sz="850" dirty="0"/>
          </a:p>
        </p:txBody>
      </p:sp>
      <p:sp>
        <p:nvSpPr>
          <p:cNvPr id="24" name="Text 18">
            <a:hlinkClick r:id="rId4" tooltip=""/>
          </p:cNvPr>
          <p:cNvSpPr txBox="1"/>
          <p:nvPr/>
        </p:nvSpPr>
        <p:spPr>
          <a:xfrm>
            <a:off x="2377440" y="4773168"/>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cyclone-risk-network-district-dashboard-847963771142.asia-south1.run.app</a:t>
            </a:r>
            <a:endParaRPr lang="en-US" sz="850" dirty="0"/>
          </a:p>
        </p:txBody>
      </p:sp>
      <p:sp>
        <p:nvSpPr>
          <p:cNvPr id="25" name="Text 19"/>
          <p:cNvSpPr txBox="1"/>
          <p:nvPr/>
        </p:nvSpPr>
        <p:spPr>
          <a:xfrm>
            <a:off x="896112" y="5065776"/>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State EOC dashboard</a:t>
            </a:r>
            <a:endParaRPr lang="en-US" sz="850" dirty="0"/>
          </a:p>
        </p:txBody>
      </p:sp>
      <p:sp>
        <p:nvSpPr>
          <p:cNvPr id="26" name="Text 20">
            <a:hlinkClick r:id="rId5" tooltip=""/>
          </p:cNvPr>
          <p:cNvSpPr txBox="1"/>
          <p:nvPr/>
        </p:nvSpPr>
        <p:spPr>
          <a:xfrm>
            <a:off x="2377440" y="5065776"/>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cyclone-risk-network-state-eoc-dashboard-847963771142.asia-south1.run.app</a:t>
            </a:r>
            <a:endParaRPr lang="en-US" sz="850" dirty="0"/>
          </a:p>
        </p:txBody>
      </p:sp>
      <p:sp>
        <p:nvSpPr>
          <p:cNvPr id="27" name="Text 21"/>
          <p:cNvSpPr txBox="1"/>
          <p:nvPr/>
        </p:nvSpPr>
        <p:spPr>
          <a:xfrm>
            <a:off x="896112" y="5358384"/>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API (/docs)</a:t>
            </a:r>
            <a:endParaRPr lang="en-US" sz="850" dirty="0"/>
          </a:p>
        </p:txBody>
      </p:sp>
      <p:sp>
        <p:nvSpPr>
          <p:cNvPr id="28" name="Text 22">
            <a:hlinkClick r:id="rId6" tooltip=""/>
          </p:cNvPr>
          <p:cNvSpPr txBox="1"/>
          <p:nvPr/>
        </p:nvSpPr>
        <p:spPr>
          <a:xfrm>
            <a:off x="2377440" y="5358384"/>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cyclone-risk-network-api-847963771142.asia-south1.run.app/docs</a:t>
            </a:r>
            <a:endParaRPr lang="en-US" sz="850" dirty="0"/>
          </a:p>
        </p:txBody>
      </p:sp>
      <p:sp>
        <p:nvSpPr>
          <p:cNvPr id="29" name="Text 23"/>
          <p:cNvSpPr txBox="1"/>
          <p:nvPr/>
        </p:nvSpPr>
        <p:spPr>
          <a:xfrm>
            <a:off x="896112" y="5650992"/>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Source</a:t>
            </a:r>
            <a:endParaRPr lang="en-US" sz="850" dirty="0"/>
          </a:p>
        </p:txBody>
      </p:sp>
      <p:sp>
        <p:nvSpPr>
          <p:cNvPr id="30" name="Text 24">
            <a:hlinkClick r:id="rId7" tooltip=""/>
          </p:cNvPr>
          <p:cNvSpPr txBox="1"/>
          <p:nvPr/>
        </p:nvSpPr>
        <p:spPr>
          <a:xfrm>
            <a:off x="2377440" y="5650992"/>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github.com/ipavanreddy/cyclone-risk-network</a:t>
            </a:r>
            <a:endParaRPr lang="en-US" sz="850" dirty="0"/>
          </a:p>
        </p:txBody>
      </p:sp>
      <p:sp>
        <p:nvSpPr>
          <p:cNvPr id="31" name="Text 25"/>
          <p:cNvSpPr txBox="1"/>
          <p:nvPr/>
        </p:nvSpPr>
        <p:spPr>
          <a:xfrm>
            <a:off x="6720840" y="1700784"/>
            <a:ext cx="4572000" cy="182880"/>
          </a:xfrm>
          <a:prstGeom prst="rect">
            <a:avLst/>
          </a:prstGeom>
          <a:noFill/>
          <a:ln/>
        </p:spPr>
        <p:txBody>
          <a:bodyPr wrap="square" lIns="0" tIns="0" rIns="0" bIns="0" rtlCol="0" anchor="t"/>
          <a:lstStyle/>
          <a:p>
            <a:pPr indent="0" marL="0">
              <a:buNone/>
            </a:pPr>
            <a:r>
              <a:rPr lang="en-US" sz="850" b="1" spc="200" kern="0" dirty="0">
                <a:solidFill>
                  <a:srgbClr val="12796D"/>
                </a:solidFill>
                <a:latin typeface="Arial" pitchFamily="34" charset="0"/>
                <a:ea typeface="Arial" pitchFamily="34" charset="-122"/>
                <a:cs typeface="Arial" pitchFamily="34" charset="-120"/>
              </a:rPr>
              <a:t>EVALUATION ALIGNMENT</a:t>
            </a:r>
            <a:endParaRPr lang="en-US" sz="850" dirty="0"/>
          </a:p>
        </p:txBody>
      </p:sp>
      <p:sp>
        <p:nvSpPr>
          <p:cNvPr id="32" name="Shape 26"/>
          <p:cNvSpPr/>
          <p:nvPr/>
        </p:nvSpPr>
        <p:spPr>
          <a:xfrm>
            <a:off x="6702552" y="2011680"/>
            <a:ext cx="4892040" cy="676656"/>
          </a:xfrm>
          <a:prstGeom prst="roundRect">
            <a:avLst>
              <a:gd name="adj" fmla="val 10811"/>
            </a:avLst>
          </a:prstGeom>
          <a:solidFill>
            <a:srgbClr val="DCEEE8"/>
          </a:solidFill>
          <a:ln w="9525">
            <a:solidFill>
              <a:srgbClr val="12796D"/>
            </a:solidFill>
            <a:prstDash val="solid"/>
          </a:ln>
        </p:spPr>
      </p:sp>
      <p:sp>
        <p:nvSpPr>
          <p:cNvPr id="33" name="Text 27"/>
          <p:cNvSpPr txBox="1"/>
          <p:nvPr/>
        </p:nvSpPr>
        <p:spPr>
          <a:xfrm>
            <a:off x="6839712" y="2121408"/>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25%</a:t>
            </a:r>
            <a:endParaRPr lang="en-US" sz="1700" dirty="0"/>
          </a:p>
        </p:txBody>
      </p:sp>
      <p:sp>
        <p:nvSpPr>
          <p:cNvPr id="34" name="Text 28"/>
          <p:cNvSpPr txBox="1"/>
          <p:nvPr/>
        </p:nvSpPr>
        <p:spPr>
          <a:xfrm>
            <a:off x="7680960" y="2103120"/>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AI / TECHNICAL EXECUTION</a:t>
            </a:r>
            <a:endParaRPr lang="en-US" sz="850" dirty="0"/>
          </a:p>
        </p:txBody>
      </p:sp>
      <p:sp>
        <p:nvSpPr>
          <p:cNvPr id="35" name="Text 29"/>
          <p:cNvSpPr txBox="1"/>
          <p:nvPr/>
        </p:nvSpPr>
        <p:spPr>
          <a:xfrm>
            <a:off x="7680960" y="2304288"/>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Gemini 3.7 Flash parse + multimodal sitrep; schema-validated, grounded</a:t>
            </a:r>
            <a:endParaRPr lang="en-US" sz="850" dirty="0"/>
          </a:p>
        </p:txBody>
      </p:sp>
      <p:sp>
        <p:nvSpPr>
          <p:cNvPr id="36" name="Shape 30"/>
          <p:cNvSpPr/>
          <p:nvPr/>
        </p:nvSpPr>
        <p:spPr>
          <a:xfrm>
            <a:off x="6702552" y="2816352"/>
            <a:ext cx="4892040" cy="676656"/>
          </a:xfrm>
          <a:prstGeom prst="roundRect">
            <a:avLst>
              <a:gd name="adj" fmla="val 10811"/>
            </a:avLst>
          </a:prstGeom>
          <a:solidFill>
            <a:srgbClr val="FFFDF7"/>
          </a:solidFill>
          <a:ln w="9525">
            <a:solidFill>
              <a:srgbClr val="DCD5C5"/>
            </a:solidFill>
            <a:prstDash val="solid"/>
          </a:ln>
        </p:spPr>
      </p:sp>
      <p:sp>
        <p:nvSpPr>
          <p:cNvPr id="37" name="Text 31"/>
          <p:cNvSpPr txBox="1"/>
          <p:nvPr/>
        </p:nvSpPr>
        <p:spPr>
          <a:xfrm>
            <a:off x="6839712" y="2926080"/>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38" name="Text 32"/>
          <p:cNvSpPr txBox="1"/>
          <p:nvPr/>
        </p:nvSpPr>
        <p:spPr>
          <a:xfrm>
            <a:off x="7680960" y="2907792"/>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PROBLEM-SOLUTION FIT</a:t>
            </a:r>
            <a:endParaRPr lang="en-US" sz="850" dirty="0"/>
          </a:p>
        </p:txBody>
      </p:sp>
      <p:sp>
        <p:nvSpPr>
          <p:cNvPr id="39" name="Text 33"/>
          <p:cNvSpPr txBox="1"/>
          <p:nvPr/>
        </p:nvSpPr>
        <p:spPr>
          <a:xfrm>
            <a:off x="7680960" y="3108960"/>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Surge, rain-flood, infrastructure exposure and dispatch all built</a:t>
            </a:r>
            <a:endParaRPr lang="en-US" sz="850" dirty="0"/>
          </a:p>
        </p:txBody>
      </p:sp>
      <p:sp>
        <p:nvSpPr>
          <p:cNvPr id="40" name="Shape 34"/>
          <p:cNvSpPr/>
          <p:nvPr/>
        </p:nvSpPr>
        <p:spPr>
          <a:xfrm>
            <a:off x="6702552" y="3621024"/>
            <a:ext cx="4892040" cy="676656"/>
          </a:xfrm>
          <a:prstGeom prst="roundRect">
            <a:avLst>
              <a:gd name="adj" fmla="val 10811"/>
            </a:avLst>
          </a:prstGeom>
          <a:solidFill>
            <a:srgbClr val="FFFDF7"/>
          </a:solidFill>
          <a:ln w="9525">
            <a:solidFill>
              <a:srgbClr val="DCD5C5"/>
            </a:solidFill>
            <a:prstDash val="solid"/>
          </a:ln>
        </p:spPr>
      </p:sp>
      <p:sp>
        <p:nvSpPr>
          <p:cNvPr id="41" name="Text 35"/>
          <p:cNvSpPr txBox="1"/>
          <p:nvPr/>
        </p:nvSpPr>
        <p:spPr>
          <a:xfrm>
            <a:off x="6839712" y="3730752"/>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42" name="Text 36"/>
          <p:cNvSpPr txBox="1"/>
          <p:nvPr/>
        </p:nvSpPr>
        <p:spPr>
          <a:xfrm>
            <a:off x="7680960" y="3712464"/>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DEPTH &amp; REACH ACROSS INDIA</a:t>
            </a:r>
            <a:endParaRPr lang="en-US" sz="850" dirty="0"/>
          </a:p>
        </p:txBody>
      </p:sp>
      <p:sp>
        <p:nvSpPr>
          <p:cNvPr id="43" name="Text 37"/>
          <p:cNvSpPr txBox="1"/>
          <p:nvPr/>
        </p:nvSpPr>
        <p:spPr>
          <a:xfrm>
            <a:off x="7680960" y="3913632"/>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Canonical schema, 2 state adapters, 3 languages, CAP 1.2</a:t>
            </a:r>
            <a:endParaRPr lang="en-US" sz="850" dirty="0"/>
          </a:p>
        </p:txBody>
      </p:sp>
      <p:sp>
        <p:nvSpPr>
          <p:cNvPr id="44" name="Shape 38"/>
          <p:cNvSpPr/>
          <p:nvPr/>
        </p:nvSpPr>
        <p:spPr>
          <a:xfrm>
            <a:off x="6702552" y="4425696"/>
            <a:ext cx="4892040" cy="676656"/>
          </a:xfrm>
          <a:prstGeom prst="roundRect">
            <a:avLst>
              <a:gd name="adj" fmla="val 10811"/>
            </a:avLst>
          </a:prstGeom>
          <a:solidFill>
            <a:srgbClr val="FFFDF7"/>
          </a:solidFill>
          <a:ln w="9525">
            <a:solidFill>
              <a:srgbClr val="DCD5C5"/>
            </a:solidFill>
            <a:prstDash val="solid"/>
          </a:ln>
        </p:spPr>
      </p:sp>
      <p:sp>
        <p:nvSpPr>
          <p:cNvPr id="45" name="Text 39"/>
          <p:cNvSpPr txBox="1"/>
          <p:nvPr/>
        </p:nvSpPr>
        <p:spPr>
          <a:xfrm>
            <a:off x="6839712" y="4535424"/>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46" name="Text 40"/>
          <p:cNvSpPr txBox="1"/>
          <p:nvPr/>
        </p:nvSpPr>
        <p:spPr>
          <a:xfrm>
            <a:off x="7680960" y="4517136"/>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DEPLOYABILITY &amp; SCALABILITY</a:t>
            </a:r>
            <a:endParaRPr lang="en-US" sz="850" dirty="0"/>
          </a:p>
        </p:txBody>
      </p:sp>
      <p:sp>
        <p:nvSpPr>
          <p:cNvPr id="47" name="Text 41"/>
          <p:cNvSpPr txBox="1"/>
          <p:nvPr/>
        </p:nvSpPr>
        <p:spPr>
          <a:xfrm>
            <a:off x="7680960" y="4718304"/>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Cloud Run, one deploy script, labelled demo fallbacks</a:t>
            </a:r>
            <a:endParaRPr lang="en-US" sz="850" dirty="0"/>
          </a:p>
        </p:txBody>
      </p:sp>
      <p:sp>
        <p:nvSpPr>
          <p:cNvPr id="48" name="Shape 42"/>
          <p:cNvSpPr/>
          <p:nvPr/>
        </p:nvSpPr>
        <p:spPr>
          <a:xfrm>
            <a:off x="6702552" y="5230368"/>
            <a:ext cx="4892040" cy="676656"/>
          </a:xfrm>
          <a:prstGeom prst="roundRect">
            <a:avLst>
              <a:gd name="adj" fmla="val 10811"/>
            </a:avLst>
          </a:prstGeom>
          <a:solidFill>
            <a:srgbClr val="FFFDF7"/>
          </a:solidFill>
          <a:ln w="9525">
            <a:solidFill>
              <a:srgbClr val="DCD5C5"/>
            </a:solidFill>
            <a:prstDash val="solid"/>
          </a:ln>
        </p:spPr>
      </p:sp>
      <p:sp>
        <p:nvSpPr>
          <p:cNvPr id="49" name="Text 43"/>
          <p:cNvSpPr txBox="1"/>
          <p:nvPr/>
        </p:nvSpPr>
        <p:spPr>
          <a:xfrm>
            <a:off x="6839712" y="5340096"/>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15%</a:t>
            </a:r>
            <a:endParaRPr lang="en-US" sz="1700" dirty="0"/>
          </a:p>
        </p:txBody>
      </p:sp>
      <p:sp>
        <p:nvSpPr>
          <p:cNvPr id="50" name="Text 44"/>
          <p:cNvSpPr txBox="1"/>
          <p:nvPr/>
        </p:nvSpPr>
        <p:spPr>
          <a:xfrm>
            <a:off x="7680960" y="5321808"/>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IMPACT POTENTIAL</a:t>
            </a:r>
            <a:endParaRPr lang="en-US" sz="850" dirty="0"/>
          </a:p>
        </p:txBody>
      </p:sp>
      <p:sp>
        <p:nvSpPr>
          <p:cNvPr id="51" name="Text 45"/>
          <p:cNvSpPr txBox="1"/>
          <p:nvPr/>
        </p:nvSpPr>
        <p:spPr>
          <a:xfrm>
            <a:off x="7680960" y="5522976"/>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Earlier, targeted evacuation; parametric liquidity (sample policies)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APPENDIX — REFERENCES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Forecast, alerting and programme sources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Numbered references correspond to citations in the core slides.</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12</a:t>
            </a:r>
            <a:endParaRPr lang="en-US" sz="650" dirty="0"/>
          </a:p>
        </p:txBody>
      </p:sp>
      <p:sp>
        <p:nvSpPr>
          <p:cNvPr id="14" name="Shape 10"/>
          <p:cNvSpPr/>
          <p:nvPr/>
        </p:nvSpPr>
        <p:spPr>
          <a:xfrm>
            <a:off x="640080" y="1700784"/>
            <a:ext cx="10972800" cy="932688"/>
          </a:xfrm>
          <a:prstGeom prst="roundRect">
            <a:avLst>
              <a:gd name="adj" fmla="val 7843"/>
            </a:avLst>
          </a:prstGeom>
          <a:solidFill>
            <a:srgbClr val="FFFDF7"/>
          </a:solidFill>
          <a:ln w="9525">
            <a:solidFill>
              <a:srgbClr val="DCD5C5"/>
            </a:solidFill>
            <a:prstDash val="solid"/>
          </a:ln>
        </p:spPr>
      </p:sp>
      <p:sp>
        <p:nvSpPr>
          <p:cNvPr id="15" name="Text 11"/>
          <p:cNvSpPr txBox="1"/>
          <p:nvPr/>
        </p:nvSpPr>
        <p:spPr>
          <a:xfrm>
            <a:off x="841248" y="1956816"/>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[1]</a:t>
            </a:r>
            <a:endParaRPr lang="en-US" sz="1300" dirty="0"/>
          </a:p>
        </p:txBody>
      </p:sp>
      <p:sp>
        <p:nvSpPr>
          <p:cNvPr id="16" name="Text 12"/>
          <p:cNvSpPr txBox="1"/>
          <p:nvPr/>
        </p:nvSpPr>
        <p:spPr>
          <a:xfrm>
            <a:off x="1389888" y="1920240"/>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IMD RSMC New Delhi</a:t>
            </a:r>
            <a:endParaRPr lang="en-US" sz="1300" dirty="0"/>
          </a:p>
        </p:txBody>
      </p:sp>
      <p:sp>
        <p:nvSpPr>
          <p:cNvPr id="17" name="Text 13"/>
          <p:cNvSpPr txBox="1"/>
          <p:nvPr/>
        </p:nvSpPr>
        <p:spPr>
          <a:xfrm>
            <a:off x="4297680" y="1901952"/>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Tropical cyclone bulletins and reports, including Fani (2019) and Amphan (2020); used to reconstruct the sample replays.</a:t>
            </a:r>
            <a:endParaRPr lang="en-US" sz="1000" dirty="0"/>
          </a:p>
        </p:txBody>
      </p:sp>
      <p:sp>
        <p:nvSpPr>
          <p:cNvPr id="18" name="Text 14">
            <a:hlinkClick r:id="rId2" tooltip=""/>
          </p:cNvPr>
          <p:cNvSpPr txBox="1"/>
          <p:nvPr/>
        </p:nvSpPr>
        <p:spPr>
          <a:xfrm>
            <a:off x="9509760" y="2359152"/>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
        <p:nvSpPr>
          <p:cNvPr id="19" name="Shape 15"/>
          <p:cNvSpPr/>
          <p:nvPr/>
        </p:nvSpPr>
        <p:spPr>
          <a:xfrm>
            <a:off x="640080" y="2816352"/>
            <a:ext cx="10972800" cy="932688"/>
          </a:xfrm>
          <a:prstGeom prst="roundRect">
            <a:avLst>
              <a:gd name="adj" fmla="val 7843"/>
            </a:avLst>
          </a:prstGeom>
          <a:solidFill>
            <a:srgbClr val="FFFDF7"/>
          </a:solidFill>
          <a:ln w="9525">
            <a:solidFill>
              <a:srgbClr val="DCD5C5"/>
            </a:solidFill>
            <a:prstDash val="solid"/>
          </a:ln>
        </p:spPr>
      </p:sp>
      <p:sp>
        <p:nvSpPr>
          <p:cNvPr id="20" name="Text 16"/>
          <p:cNvSpPr txBox="1"/>
          <p:nvPr/>
        </p:nvSpPr>
        <p:spPr>
          <a:xfrm>
            <a:off x="841248" y="3072384"/>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[2]</a:t>
            </a:r>
            <a:endParaRPr lang="en-US" sz="1300" dirty="0"/>
          </a:p>
        </p:txBody>
      </p:sp>
      <p:sp>
        <p:nvSpPr>
          <p:cNvPr id="21" name="Text 17"/>
          <p:cNvSpPr txBox="1"/>
          <p:nvPr/>
        </p:nvSpPr>
        <p:spPr>
          <a:xfrm>
            <a:off x="1389888" y="3035808"/>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INCOIS</a:t>
            </a:r>
            <a:endParaRPr lang="en-US" sz="1300" dirty="0"/>
          </a:p>
        </p:txBody>
      </p:sp>
      <p:sp>
        <p:nvSpPr>
          <p:cNvPr id="22" name="Text 18"/>
          <p:cNvSpPr txBox="1"/>
          <p:nvPr/>
        </p:nvSpPr>
        <p:spPr>
          <a:xfrm>
            <a:off x="4297680" y="3017520"/>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Indian National Centre for Ocean Information Services: storm-surge and high-wave services for India's coast.</a:t>
            </a:r>
            <a:endParaRPr lang="en-US" sz="1000" dirty="0"/>
          </a:p>
        </p:txBody>
      </p:sp>
      <p:sp>
        <p:nvSpPr>
          <p:cNvPr id="23" name="Text 19">
            <a:hlinkClick r:id="rId3" tooltip=""/>
          </p:cNvPr>
          <p:cNvSpPr txBox="1"/>
          <p:nvPr/>
        </p:nvSpPr>
        <p:spPr>
          <a:xfrm>
            <a:off x="9509760" y="3474720"/>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
        <p:nvSpPr>
          <p:cNvPr id="24" name="Shape 20"/>
          <p:cNvSpPr/>
          <p:nvPr/>
        </p:nvSpPr>
        <p:spPr>
          <a:xfrm>
            <a:off x="640080" y="3931920"/>
            <a:ext cx="10972800" cy="932688"/>
          </a:xfrm>
          <a:prstGeom prst="roundRect">
            <a:avLst>
              <a:gd name="adj" fmla="val 7843"/>
            </a:avLst>
          </a:prstGeom>
          <a:solidFill>
            <a:srgbClr val="FFFDF7"/>
          </a:solidFill>
          <a:ln w="9525">
            <a:solidFill>
              <a:srgbClr val="DCD5C5"/>
            </a:solidFill>
            <a:prstDash val="solid"/>
          </a:ln>
        </p:spPr>
      </p:sp>
      <p:sp>
        <p:nvSpPr>
          <p:cNvPr id="25" name="Text 21"/>
          <p:cNvSpPr txBox="1"/>
          <p:nvPr/>
        </p:nvSpPr>
        <p:spPr>
          <a:xfrm>
            <a:off x="841248" y="4187952"/>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[3]</a:t>
            </a:r>
            <a:endParaRPr lang="en-US" sz="1300" dirty="0"/>
          </a:p>
        </p:txBody>
      </p:sp>
      <p:sp>
        <p:nvSpPr>
          <p:cNvPr id="26" name="Text 22"/>
          <p:cNvSpPr txBox="1"/>
          <p:nvPr/>
        </p:nvSpPr>
        <p:spPr>
          <a:xfrm>
            <a:off x="1389888" y="4151376"/>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NDMA SACHET</a:t>
            </a:r>
            <a:endParaRPr lang="en-US" sz="1300" dirty="0"/>
          </a:p>
        </p:txBody>
      </p:sp>
      <p:sp>
        <p:nvSpPr>
          <p:cNvPr id="27" name="Text 23"/>
          <p:cNvSpPr txBox="1"/>
          <p:nvPr/>
        </p:nvSpPr>
        <p:spPr>
          <a:xfrm>
            <a:off x="4297680" y="4133088"/>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National Disaster Management Authority's CAP-based integrated alert system for geo-targeted dissemination.</a:t>
            </a:r>
            <a:endParaRPr lang="en-US" sz="1000" dirty="0"/>
          </a:p>
        </p:txBody>
      </p:sp>
      <p:sp>
        <p:nvSpPr>
          <p:cNvPr id="28" name="Text 24">
            <a:hlinkClick r:id="rId4" tooltip=""/>
          </p:cNvPr>
          <p:cNvSpPr txBox="1"/>
          <p:nvPr/>
        </p:nvSpPr>
        <p:spPr>
          <a:xfrm>
            <a:off x="9509760" y="4590288"/>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
        <p:nvSpPr>
          <p:cNvPr id="29" name="Shape 25"/>
          <p:cNvSpPr/>
          <p:nvPr/>
        </p:nvSpPr>
        <p:spPr>
          <a:xfrm>
            <a:off x="640080" y="5047488"/>
            <a:ext cx="10972800" cy="932688"/>
          </a:xfrm>
          <a:prstGeom prst="roundRect">
            <a:avLst>
              <a:gd name="adj" fmla="val 7843"/>
            </a:avLst>
          </a:prstGeom>
          <a:solidFill>
            <a:srgbClr val="FFFDF7"/>
          </a:solidFill>
          <a:ln w="9525">
            <a:solidFill>
              <a:srgbClr val="DCD5C5"/>
            </a:solidFill>
            <a:prstDash val="solid"/>
          </a:ln>
        </p:spPr>
      </p:sp>
      <p:sp>
        <p:nvSpPr>
          <p:cNvPr id="30" name="Text 26"/>
          <p:cNvSpPr txBox="1"/>
          <p:nvPr/>
        </p:nvSpPr>
        <p:spPr>
          <a:xfrm>
            <a:off x="841248" y="5303520"/>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[4]</a:t>
            </a:r>
            <a:endParaRPr lang="en-US" sz="1300" dirty="0"/>
          </a:p>
        </p:txBody>
      </p:sp>
      <p:sp>
        <p:nvSpPr>
          <p:cNvPr id="31" name="Text 27"/>
          <p:cNvSpPr txBox="1"/>
          <p:nvPr/>
        </p:nvSpPr>
        <p:spPr>
          <a:xfrm>
            <a:off x="1389888" y="5266944"/>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OASIS CAP v1.2</a:t>
            </a:r>
            <a:endParaRPr lang="en-US" sz="1300" dirty="0"/>
          </a:p>
        </p:txBody>
      </p:sp>
      <p:sp>
        <p:nvSpPr>
          <p:cNvPr id="32" name="Text 28"/>
          <p:cNvSpPr txBox="1"/>
          <p:nvPr/>
        </p:nvSpPr>
        <p:spPr>
          <a:xfrm>
            <a:off x="4297680" y="5248656"/>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Common Alerting Protocol 1.2 standard; TatRaksha generates and validates CAP 1.2 messages.</a:t>
            </a:r>
            <a:endParaRPr lang="en-US" sz="1000" dirty="0"/>
          </a:p>
        </p:txBody>
      </p:sp>
      <p:sp>
        <p:nvSpPr>
          <p:cNvPr id="33" name="Text 29">
            <a:hlinkClick r:id="rId5" tooltip=""/>
          </p:cNvPr>
          <p:cNvSpPr txBox="1"/>
          <p:nvPr/>
        </p:nvSpPr>
        <p:spPr>
          <a:xfrm>
            <a:off x="9509760" y="5705856"/>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STANDARD ↗</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APPENDIX — REFERENCES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yclone-risk-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Programme, data and funding sources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Numbered references correspond to citations in the core slides.</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TATRAKSHA</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13</a:t>
            </a:r>
            <a:endParaRPr lang="en-US" sz="650" dirty="0"/>
          </a:p>
        </p:txBody>
      </p:sp>
      <p:sp>
        <p:nvSpPr>
          <p:cNvPr id="14" name="Shape 10"/>
          <p:cNvSpPr/>
          <p:nvPr/>
        </p:nvSpPr>
        <p:spPr>
          <a:xfrm>
            <a:off x="640080" y="1700784"/>
            <a:ext cx="10972800" cy="932688"/>
          </a:xfrm>
          <a:prstGeom prst="roundRect">
            <a:avLst>
              <a:gd name="adj" fmla="val 7843"/>
            </a:avLst>
          </a:prstGeom>
          <a:solidFill>
            <a:srgbClr val="FFFDF7"/>
          </a:solidFill>
          <a:ln w="9525">
            <a:solidFill>
              <a:srgbClr val="DCD5C5"/>
            </a:solidFill>
            <a:prstDash val="solid"/>
          </a:ln>
        </p:spPr>
      </p:sp>
      <p:sp>
        <p:nvSpPr>
          <p:cNvPr id="15" name="Text 11"/>
          <p:cNvSpPr txBox="1"/>
          <p:nvPr/>
        </p:nvSpPr>
        <p:spPr>
          <a:xfrm>
            <a:off x="841248" y="1956816"/>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[5]</a:t>
            </a:r>
            <a:endParaRPr lang="en-US" sz="1300" dirty="0"/>
          </a:p>
        </p:txBody>
      </p:sp>
      <p:sp>
        <p:nvSpPr>
          <p:cNvPr id="16" name="Text 12"/>
          <p:cNvSpPr txBox="1"/>
          <p:nvPr/>
        </p:nvSpPr>
        <p:spPr>
          <a:xfrm>
            <a:off x="1389888" y="1920240"/>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NCRMP (NDMA)</a:t>
            </a:r>
            <a:endParaRPr lang="en-US" sz="1300" dirty="0"/>
          </a:p>
        </p:txBody>
      </p:sp>
      <p:sp>
        <p:nvSpPr>
          <p:cNvPr id="17" name="Text 13"/>
          <p:cNvSpPr txBox="1"/>
          <p:nvPr/>
        </p:nvSpPr>
        <p:spPr>
          <a:xfrm>
            <a:off x="4297680" y="1901952"/>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National Cyclone Risk Mitigation Project: multipurpose cyclone shelters and early-warning dissemination in coastal states.</a:t>
            </a:r>
            <a:endParaRPr lang="en-US" sz="1000" dirty="0"/>
          </a:p>
        </p:txBody>
      </p:sp>
      <p:sp>
        <p:nvSpPr>
          <p:cNvPr id="18" name="Text 14">
            <a:hlinkClick r:id="rId2" tooltip=""/>
          </p:cNvPr>
          <p:cNvSpPr txBox="1"/>
          <p:nvPr/>
        </p:nvSpPr>
        <p:spPr>
          <a:xfrm>
            <a:off x="9509760" y="2359152"/>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
        <p:nvSpPr>
          <p:cNvPr id="19" name="Shape 15"/>
          <p:cNvSpPr/>
          <p:nvPr/>
        </p:nvSpPr>
        <p:spPr>
          <a:xfrm>
            <a:off x="640080" y="2816352"/>
            <a:ext cx="10972800" cy="932688"/>
          </a:xfrm>
          <a:prstGeom prst="roundRect">
            <a:avLst>
              <a:gd name="adj" fmla="val 7843"/>
            </a:avLst>
          </a:prstGeom>
          <a:solidFill>
            <a:srgbClr val="FFFDF7"/>
          </a:solidFill>
          <a:ln w="9525">
            <a:solidFill>
              <a:srgbClr val="DCD5C5"/>
            </a:solidFill>
            <a:prstDash val="solid"/>
          </a:ln>
        </p:spPr>
      </p:sp>
      <p:sp>
        <p:nvSpPr>
          <p:cNvPr id="20" name="Text 16"/>
          <p:cNvSpPr txBox="1"/>
          <p:nvPr/>
        </p:nvSpPr>
        <p:spPr>
          <a:xfrm>
            <a:off x="841248" y="3072384"/>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[6]</a:t>
            </a:r>
            <a:endParaRPr lang="en-US" sz="1300" dirty="0"/>
          </a:p>
        </p:txBody>
      </p:sp>
      <p:sp>
        <p:nvSpPr>
          <p:cNvPr id="21" name="Text 17"/>
          <p:cNvSpPr txBox="1"/>
          <p:nvPr/>
        </p:nvSpPr>
        <p:spPr>
          <a:xfrm>
            <a:off x="1389888" y="3035808"/>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Earth Engine data catalog</a:t>
            </a:r>
            <a:endParaRPr lang="en-US" sz="1300" dirty="0"/>
          </a:p>
        </p:txBody>
      </p:sp>
      <p:sp>
        <p:nvSpPr>
          <p:cNvPr id="22" name="Text 18"/>
          <p:cNvSpPr txBox="1"/>
          <p:nvPr/>
        </p:nvSpPr>
        <p:spPr>
          <a:xfrm>
            <a:off x="4297680" y="3017520"/>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Copernicus DEM, GPM IMERG rainfall, JRC Surface Water, WorldPop, Open Buildings layers used by the Earth Engine path.</a:t>
            </a:r>
            <a:endParaRPr lang="en-US" sz="1000" dirty="0"/>
          </a:p>
        </p:txBody>
      </p:sp>
      <p:sp>
        <p:nvSpPr>
          <p:cNvPr id="23" name="Text 19">
            <a:hlinkClick r:id="rId3" tooltip=""/>
          </p:cNvPr>
          <p:cNvSpPr txBox="1"/>
          <p:nvPr/>
        </p:nvSpPr>
        <p:spPr>
          <a:xfrm>
            <a:off x="9509760" y="3474720"/>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DATASETS ↗</a:t>
            </a:r>
            <a:endParaRPr lang="en-US" sz="750" dirty="0"/>
          </a:p>
        </p:txBody>
      </p:sp>
      <p:sp>
        <p:nvSpPr>
          <p:cNvPr id="24" name="Shape 20"/>
          <p:cNvSpPr/>
          <p:nvPr/>
        </p:nvSpPr>
        <p:spPr>
          <a:xfrm>
            <a:off x="640080" y="3931920"/>
            <a:ext cx="10972800" cy="932688"/>
          </a:xfrm>
          <a:prstGeom prst="roundRect">
            <a:avLst>
              <a:gd name="adj" fmla="val 7843"/>
            </a:avLst>
          </a:prstGeom>
          <a:solidFill>
            <a:srgbClr val="FFFDF7"/>
          </a:solidFill>
          <a:ln w="9525">
            <a:solidFill>
              <a:srgbClr val="DCD5C5"/>
            </a:solidFill>
            <a:prstDash val="solid"/>
          </a:ln>
        </p:spPr>
      </p:sp>
      <p:sp>
        <p:nvSpPr>
          <p:cNvPr id="25" name="Text 21"/>
          <p:cNvSpPr txBox="1"/>
          <p:nvPr/>
        </p:nvSpPr>
        <p:spPr>
          <a:xfrm>
            <a:off x="841248" y="4187952"/>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[7]</a:t>
            </a:r>
            <a:endParaRPr lang="en-US" sz="1300" dirty="0"/>
          </a:p>
        </p:txBody>
      </p:sp>
      <p:sp>
        <p:nvSpPr>
          <p:cNvPr id="26" name="Text 22"/>
          <p:cNvSpPr txBox="1"/>
          <p:nvPr/>
        </p:nvSpPr>
        <p:spPr>
          <a:xfrm>
            <a:off x="1389888" y="4151376"/>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TatRaksha replay data (sample)</a:t>
            </a:r>
            <a:endParaRPr lang="en-US" sz="1300" dirty="0"/>
          </a:p>
        </p:txBody>
      </p:sp>
      <p:sp>
        <p:nvSpPr>
          <p:cNvPr id="27" name="Text 23"/>
          <p:cNvSpPr txBox="1"/>
          <p:nvPr/>
        </p:nvSpPr>
        <p:spPr>
          <a:xfrm>
            <a:off x="4297680" y="4133088"/>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data/replays/: reconstructed tracks and bulletins, synthetic terrain, sample villages, shelters, roads; flagged is_sample.</a:t>
            </a:r>
            <a:endParaRPr lang="en-US" sz="1000" dirty="0"/>
          </a:p>
        </p:txBody>
      </p:sp>
      <p:sp>
        <p:nvSpPr>
          <p:cNvPr id="28" name="Text 24"/>
          <p:cNvSpPr txBox="1"/>
          <p:nvPr/>
        </p:nvSpPr>
        <p:spPr>
          <a:xfrm>
            <a:off x="9509760" y="4590288"/>
            <a:ext cx="1920240" cy="164592"/>
          </a:xfrm>
          <a:prstGeom prst="rect">
            <a:avLst/>
          </a:prstGeom>
          <a:noFill/>
          <a:ln/>
        </p:spPr>
        <p:txBody>
          <a:bodyPr wrap="square" lIns="0" tIns="0" rIns="0" bIns="0" rtlCol="0" anchor="t"/>
          <a:lstStyle/>
          <a:p>
            <a:pPr algn="r" indent="0" marL="0">
              <a:buNone/>
            </a:pPr>
            <a:r>
              <a:rPr lang="en-US" sz="750" b="1" dirty="0">
                <a:solidFill>
                  <a:srgbClr val="E8694A"/>
                </a:solidFill>
                <a:latin typeface="Arial" pitchFamily="34" charset="0"/>
                <a:ea typeface="Arial" pitchFamily="34" charset="-122"/>
                <a:cs typeface="Arial" pitchFamily="34" charset="-120"/>
              </a:rPr>
              <a:t>LOCAL EVIDENCE</a:t>
            </a:r>
            <a:endParaRPr lang="en-US" sz="750" dirty="0"/>
          </a:p>
        </p:txBody>
      </p:sp>
      <p:sp>
        <p:nvSpPr>
          <p:cNvPr id="29" name="Shape 25"/>
          <p:cNvSpPr/>
          <p:nvPr/>
        </p:nvSpPr>
        <p:spPr>
          <a:xfrm>
            <a:off x="640080" y="5047488"/>
            <a:ext cx="10972800" cy="932688"/>
          </a:xfrm>
          <a:prstGeom prst="roundRect">
            <a:avLst>
              <a:gd name="adj" fmla="val 7843"/>
            </a:avLst>
          </a:prstGeom>
          <a:solidFill>
            <a:srgbClr val="FFFDF7"/>
          </a:solidFill>
          <a:ln w="9525">
            <a:solidFill>
              <a:srgbClr val="DCD5C5"/>
            </a:solidFill>
            <a:prstDash val="solid"/>
          </a:ln>
        </p:spPr>
      </p:sp>
      <p:sp>
        <p:nvSpPr>
          <p:cNvPr id="30" name="Text 26"/>
          <p:cNvSpPr txBox="1"/>
          <p:nvPr/>
        </p:nvSpPr>
        <p:spPr>
          <a:xfrm>
            <a:off x="841248" y="5303520"/>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[8]</a:t>
            </a:r>
            <a:endParaRPr lang="en-US" sz="1300" dirty="0"/>
          </a:p>
        </p:txBody>
      </p:sp>
      <p:sp>
        <p:nvSpPr>
          <p:cNvPr id="31" name="Text 27"/>
          <p:cNvSpPr txBox="1"/>
          <p:nvPr/>
        </p:nvSpPr>
        <p:spPr>
          <a:xfrm>
            <a:off x="1389888" y="5266944"/>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MHA Disaster Management Division</a:t>
            </a:r>
            <a:endParaRPr lang="en-US" sz="1300" dirty="0"/>
          </a:p>
        </p:txBody>
      </p:sp>
      <p:sp>
        <p:nvSpPr>
          <p:cNvPr id="32" name="Text 28"/>
          <p:cNvSpPr txBox="1"/>
          <p:nvPr/>
        </p:nvSpPr>
        <p:spPr>
          <a:xfrm>
            <a:off x="4297680" y="5248656"/>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SDRF / SDMF guidelines under the XV Finance Commission award; candidate budget route for a state pilot.</a:t>
            </a:r>
            <a:endParaRPr lang="en-US" sz="1000" dirty="0"/>
          </a:p>
        </p:txBody>
      </p:sp>
      <p:sp>
        <p:nvSpPr>
          <p:cNvPr id="33" name="Text 29">
            <a:hlinkClick r:id="rId4" tooltip=""/>
          </p:cNvPr>
          <p:cNvSpPr txBox="1"/>
          <p:nvPr/>
        </p:nvSpPr>
        <p:spPr>
          <a:xfrm>
            <a:off x="9509760" y="5705856"/>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Spontom Enterprise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TatRaksha: Cyclone anticipatory action pitch</dc:title>
  <dc:subject>PptxGenJS Presentation</dc:subject>
  <dc:creator>Spontom Enterprise Private Limited</dc:creator>
  <cp:lastModifiedBy>Spontom Enterprise Private Limited</cp:lastModifiedBy>
  <cp:revision>1</cp:revision>
  <dcterms:created xsi:type="dcterms:W3CDTF">2026-09-30T18:10:20Z</dcterms:created>
  <dcterms:modified xsi:type="dcterms:W3CDTF">2026-09-30T18:10:20Z</dcterms:modified>
</cp:coreProperties>
</file>